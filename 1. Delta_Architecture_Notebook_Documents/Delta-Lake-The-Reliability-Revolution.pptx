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Tomorrow Semi Bold"/>
      <p:regular r:id="rId17"/>
    </p:embeddedFont>
    <p:embeddedFont>
      <p:font typeface="Tomorrow Semi Bold"/>
      <p:regular r:id="rId18"/>
    </p:embeddedFont>
    <p:embeddedFont>
      <p:font typeface="Tomorrow Semi Bold"/>
      <p:regular r:id="rId19"/>
    </p:embeddedFont>
    <p:embeddedFont>
      <p:font typeface="Tomorrow Semi Bold"/>
      <p:regular r:id="rId20"/>
    </p:embeddedFont>
    <p:embeddedFont>
      <p:font typeface="Tomorrow"/>
      <p:regular r:id="rId21"/>
    </p:embeddedFont>
    <p:embeddedFont>
      <p:font typeface="Tomorrow"/>
      <p:regular r:id="rId22"/>
    </p:embeddedFont>
    <p:embeddedFont>
      <p:font typeface="Tomorrow"/>
      <p:regular r:id="rId23"/>
    </p:embeddedFont>
    <p:embeddedFont>
      <p:font typeface="Tomorrow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0EA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74165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Delta Lake: The Reliability Revolution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9937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From chaotic data lakes to trustworthy, ACID-compliant pipelines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17425"/>
            <a:ext cx="7556421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🌐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www.cloudpandith.com | 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📞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8904424822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0EA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7821" y="582335"/>
            <a:ext cx="5298638" cy="7064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344" y="540663"/>
            <a:ext cx="7156490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Can You Trust Your Data Lake?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57344" y="1360884"/>
            <a:ext cx="782931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Imagine 1,000 CSV and Parquet files sitting in a data lake. Ask yourself: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57344" y="1810464"/>
            <a:ext cx="7829312" cy="1036915"/>
          </a:xfrm>
          <a:prstGeom prst="roundRect">
            <a:avLst>
              <a:gd name="adj" fmla="val 2717"/>
            </a:avLst>
          </a:prstGeom>
          <a:solidFill>
            <a:srgbClr val="F0EAEA"/>
          </a:solidFill>
          <a:ln/>
        </p:spPr>
      </p:sp>
      <p:sp>
        <p:nvSpPr>
          <p:cNvPr id="7" name="Text 4"/>
          <p:cNvSpPr/>
          <p:nvPr/>
        </p:nvSpPr>
        <p:spPr>
          <a:xfrm>
            <a:off x="845106" y="1998226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No Duplicates?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5106" y="2384941"/>
            <a:ext cx="745378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Can you guarantee every record appears exactly once?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7344" y="3002875"/>
            <a:ext cx="7829312" cy="1036915"/>
          </a:xfrm>
          <a:prstGeom prst="roundRect">
            <a:avLst>
              <a:gd name="adj" fmla="val 2717"/>
            </a:avLst>
          </a:prstGeom>
          <a:solidFill>
            <a:srgbClr val="F0EAEA"/>
          </a:solidFill>
          <a:ln/>
        </p:spPr>
      </p:sp>
      <p:sp>
        <p:nvSpPr>
          <p:cNvPr id="10" name="Text 7"/>
          <p:cNvSpPr/>
          <p:nvPr/>
        </p:nvSpPr>
        <p:spPr>
          <a:xfrm>
            <a:off x="845106" y="3190637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No Partial Writes?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45106" y="3577352"/>
            <a:ext cx="745378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What happens when a write job crashes halfway?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7344" y="4195286"/>
            <a:ext cx="7829312" cy="1036915"/>
          </a:xfrm>
          <a:prstGeom prst="roundRect">
            <a:avLst>
              <a:gd name="adj" fmla="val 2717"/>
            </a:avLst>
          </a:prstGeom>
          <a:solidFill>
            <a:srgbClr val="F0EAEA"/>
          </a:solidFill>
          <a:ln/>
        </p:spPr>
      </p:sp>
      <p:sp>
        <p:nvSpPr>
          <p:cNvPr id="13" name="Text 10"/>
          <p:cNvSpPr/>
          <p:nvPr/>
        </p:nvSpPr>
        <p:spPr>
          <a:xfrm>
            <a:off x="845106" y="4383048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Correct Updates?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45106" y="4769763"/>
            <a:ext cx="745378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Can you actually update or delete a row reliably?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57344" y="5387697"/>
            <a:ext cx="7829312" cy="1036915"/>
          </a:xfrm>
          <a:prstGeom prst="roundRect">
            <a:avLst>
              <a:gd name="adj" fmla="val 2717"/>
            </a:avLst>
          </a:prstGeom>
          <a:solidFill>
            <a:srgbClr val="F0EAEA"/>
          </a:solidFill>
          <a:ln/>
        </p:spPr>
      </p:sp>
      <p:sp>
        <p:nvSpPr>
          <p:cNvPr id="16" name="Text 13"/>
          <p:cNvSpPr/>
          <p:nvPr/>
        </p:nvSpPr>
        <p:spPr>
          <a:xfrm>
            <a:off x="845106" y="557545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Easy Rollback?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45106" y="5962174"/>
            <a:ext cx="745378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If something goes wrong, can you go back in time?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939046" y="6774418"/>
            <a:ext cx="754761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"That's exactly where traditional data lakes fail."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7344" y="6599515"/>
            <a:ext cx="22860" cy="624483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0" name="Text 17"/>
          <p:cNvSpPr/>
          <p:nvPr/>
        </p:nvSpPr>
        <p:spPr>
          <a:xfrm>
            <a:off x="657344" y="7398901"/>
            <a:ext cx="782931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🌐</a:t>
            </a:r>
            <a:pPr algn="ct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www.cloudpandith.com | </a:t>
            </a:r>
            <a:pPr algn="ct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📞</a:t>
            </a:r>
            <a:pPr algn="ctr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8904424822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66869"/>
            <a:ext cx="9959697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Problems with Traditional Data Lakes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1729978"/>
            <a:ext cx="1314188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Cheap storage — but far from a reliable data system. Here's why raw data lakes break in production: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4260" y="2283738"/>
            <a:ext cx="4247674" cy="2259092"/>
          </a:xfrm>
          <a:prstGeom prst="roundRect">
            <a:avLst>
              <a:gd name="adj" fmla="val 4857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1400" y="2283738"/>
            <a:ext cx="91440" cy="2259092"/>
          </a:xfrm>
          <a:prstGeom prst="roundRect">
            <a:avLst>
              <a:gd name="adj" fmla="val 34884"/>
            </a:avLst>
          </a:prstGeom>
          <a:solidFill>
            <a:srgbClr val="1D1D1B"/>
          </a:solidFill>
          <a:ln/>
        </p:spPr>
      </p:sp>
      <p:sp>
        <p:nvSpPr>
          <p:cNvPr id="6" name="Text 4"/>
          <p:cNvSpPr/>
          <p:nvPr/>
        </p:nvSpPr>
        <p:spPr>
          <a:xfrm>
            <a:off x="1048345" y="2519243"/>
            <a:ext cx="3292793" cy="347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❌</a:t>
            </a:r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No ACID Transactions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48345" y="2986326"/>
            <a:ext cx="370808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If a write fails midway, your data is corrupted. No recovery path exists.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191244" y="2283738"/>
            <a:ext cx="4247793" cy="2259092"/>
          </a:xfrm>
          <a:prstGeom prst="roundRect">
            <a:avLst>
              <a:gd name="adj" fmla="val 4857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68384" y="2283738"/>
            <a:ext cx="91440" cy="2259092"/>
          </a:xfrm>
          <a:prstGeom prst="roundRect">
            <a:avLst>
              <a:gd name="adj" fmla="val 34884"/>
            </a:avLst>
          </a:prstGeom>
          <a:solidFill>
            <a:srgbClr val="1D1D1B"/>
          </a:solidFill>
          <a:ln/>
        </p:spPr>
      </p:sp>
      <p:sp>
        <p:nvSpPr>
          <p:cNvPr id="10" name="Text 8"/>
          <p:cNvSpPr/>
          <p:nvPr/>
        </p:nvSpPr>
        <p:spPr>
          <a:xfrm>
            <a:off x="5495330" y="2519243"/>
            <a:ext cx="3708202" cy="679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❌</a:t>
            </a:r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No Schema Enforcement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5495330" y="3318629"/>
            <a:ext cx="3708202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column typed as 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61615C"/>
                </a:solidFill>
                <a:highlight>
                  <a:srgbClr val="EFEF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today becomes a 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61615C"/>
                </a:solidFill>
                <a:highlight>
                  <a:srgbClr val="EFEF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tomorrow — silently breaking pipelines.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638348" y="2283738"/>
            <a:ext cx="4247793" cy="2259092"/>
          </a:xfrm>
          <a:prstGeom prst="roundRect">
            <a:avLst>
              <a:gd name="adj" fmla="val 4857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15488" y="2283738"/>
            <a:ext cx="91440" cy="2259092"/>
          </a:xfrm>
          <a:prstGeom prst="roundRect">
            <a:avLst>
              <a:gd name="adj" fmla="val 34884"/>
            </a:avLst>
          </a:prstGeom>
          <a:solidFill>
            <a:srgbClr val="1D1D1B"/>
          </a:solidFill>
          <a:ln/>
        </p:spPr>
      </p:sp>
      <p:sp>
        <p:nvSpPr>
          <p:cNvPr id="14" name="Text 12"/>
          <p:cNvSpPr/>
          <p:nvPr/>
        </p:nvSpPr>
        <p:spPr>
          <a:xfrm>
            <a:off x="9942433" y="2519243"/>
            <a:ext cx="3365302" cy="347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❌</a:t>
            </a:r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No Updates or Deletes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9942433" y="2986326"/>
            <a:ext cx="3708202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Only append is supported. True ETL — including corrections — is practically impossible.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44260" y="4742140"/>
            <a:ext cx="4247674" cy="2259092"/>
          </a:xfrm>
          <a:prstGeom prst="roundRect">
            <a:avLst>
              <a:gd name="adj" fmla="val 4857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1400" y="4742140"/>
            <a:ext cx="91440" cy="2259092"/>
          </a:xfrm>
          <a:prstGeom prst="roundRect">
            <a:avLst>
              <a:gd name="adj" fmla="val 34884"/>
            </a:avLst>
          </a:prstGeom>
          <a:solidFill>
            <a:srgbClr val="1D1D1B"/>
          </a:solidFill>
          <a:ln/>
        </p:spPr>
      </p:sp>
      <p:sp>
        <p:nvSpPr>
          <p:cNvPr id="18" name="Text 16"/>
          <p:cNvSpPr/>
          <p:nvPr/>
        </p:nvSpPr>
        <p:spPr>
          <a:xfrm>
            <a:off x="1048345" y="4977646"/>
            <a:ext cx="3387090" cy="347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❌</a:t>
            </a:r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Concurrency Conflicts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1048345" y="5444728"/>
            <a:ext cx="3708082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Two jobs writing simultaneously leads to data races and corrupted output.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191244" y="4742140"/>
            <a:ext cx="4247793" cy="2259092"/>
          </a:xfrm>
          <a:prstGeom prst="roundRect">
            <a:avLst>
              <a:gd name="adj" fmla="val 4857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68384" y="4742140"/>
            <a:ext cx="91440" cy="2259092"/>
          </a:xfrm>
          <a:prstGeom prst="roundRect">
            <a:avLst>
              <a:gd name="adj" fmla="val 34884"/>
            </a:avLst>
          </a:prstGeom>
          <a:solidFill>
            <a:srgbClr val="1D1D1B"/>
          </a:solidFill>
          <a:ln/>
        </p:spPr>
      </p:sp>
      <p:sp>
        <p:nvSpPr>
          <p:cNvPr id="22" name="Text 20"/>
          <p:cNvSpPr/>
          <p:nvPr/>
        </p:nvSpPr>
        <p:spPr>
          <a:xfrm>
            <a:off x="5495330" y="4977646"/>
            <a:ext cx="3708202" cy="679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❌</a:t>
            </a:r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No Streaming + Batch Unity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5495330" y="5777032"/>
            <a:ext cx="3708202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Combining real-time and batch workloads on the same table is unreliable and complex.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44260" y="7225427"/>
            <a:ext cx="13141881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🌐</a:t>
            </a:r>
            <a:pPr algn="ctr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www.cloudpandith.com | </a:t>
            </a:r>
            <a:pPr algn="ctr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📞</a:t>
            </a:r>
            <a:pPr algn="ctr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8904424822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542449"/>
            <a:ext cx="8588693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Evolution: Warehouse → Lake → Delta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690568" y="1286113"/>
            <a:ext cx="11249144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Every generation of data architecture solved some problems — but introduced new ones. Delta Lake brings the best of both worlds.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568" y="1641991"/>
            <a:ext cx="11249144" cy="50620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39368" y="1734437"/>
            <a:ext cx="1968579" cy="60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 Warehouse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839368" y="2429389"/>
            <a:ext cx="1968579" cy="4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Reliable but costly and rigid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1048" y="3231321"/>
            <a:ext cx="436035" cy="43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27133" y="5683088"/>
            <a:ext cx="1979395" cy="30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 Lake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327133" y="6073830"/>
            <a:ext cx="1979395" cy="4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Cheap and scalable but unreliable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98813" y="4821328"/>
            <a:ext cx="436035" cy="436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39184" y="1848685"/>
            <a:ext cx="1968578" cy="30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Delta Lake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739184" y="2239426"/>
            <a:ext cx="1968578" cy="4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Reliable, scalable, and cost-effective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3312" y="3188056"/>
            <a:ext cx="436036" cy="436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935004" y="6967657"/>
            <a:ext cx="11004709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"Delta Lake = Data Lake + Reliability Layer"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1690568" y="6835854"/>
            <a:ext cx="22860" cy="48768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6" name="Text 10"/>
          <p:cNvSpPr/>
          <p:nvPr/>
        </p:nvSpPr>
        <p:spPr>
          <a:xfrm>
            <a:off x="1690568" y="7455337"/>
            <a:ext cx="11249144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🌐</a:t>
            </a:r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www.cloudpandith.com | </a:t>
            </a:r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📞</a:t>
            </a:r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8904424822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0EA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4965" y="591860"/>
            <a:ext cx="5284351" cy="7045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6993" y="577453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What Is Delta Lake?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706993" y="1478518"/>
            <a:ext cx="7730014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Delta Lake is an </a:t>
            </a:r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open-source storage layer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that brings ACID transactions, schema enforcement, and full reliability to your existing data lake — without changing your storage infrastructure.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06993" y="2597468"/>
            <a:ext cx="7730014" cy="4531519"/>
          </a:xfrm>
          <a:prstGeom prst="roundRect">
            <a:avLst>
              <a:gd name="adj" fmla="val 669"/>
            </a:avLst>
          </a:prstGeom>
          <a:solidFill>
            <a:srgbClr val="F0EAEA"/>
          </a:solidFill>
          <a:ln/>
        </p:spPr>
      </p:sp>
      <p:sp>
        <p:nvSpPr>
          <p:cNvPr id="7" name="Shape 4"/>
          <p:cNvSpPr/>
          <p:nvPr/>
        </p:nvSpPr>
        <p:spPr>
          <a:xfrm>
            <a:off x="706993" y="2597468"/>
            <a:ext cx="7730014" cy="1132880"/>
          </a:xfrm>
          <a:prstGeom prst="roundRect">
            <a:avLst>
              <a:gd name="adj" fmla="val 2675"/>
            </a:avLst>
          </a:prstGeom>
          <a:solidFill>
            <a:srgbClr val="F0EAEA"/>
          </a:solidFill>
          <a:ln/>
        </p:spPr>
      </p:sp>
      <p:sp>
        <p:nvSpPr>
          <p:cNvPr id="8" name="Text 5"/>
          <p:cNvSpPr/>
          <p:nvPr/>
        </p:nvSpPr>
        <p:spPr>
          <a:xfrm>
            <a:off x="908923" y="279939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Open Source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08923" y="3222903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Backed by Linux Foundation. Works on any cloud.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06993" y="3730347"/>
            <a:ext cx="7730014" cy="1132880"/>
          </a:xfrm>
          <a:prstGeom prst="rect">
            <a:avLst/>
          </a:prstGeom>
          <a:solidFill>
            <a:srgbClr val="F0EAEA"/>
          </a:solidFill>
          <a:ln/>
        </p:spPr>
      </p:sp>
      <p:sp>
        <p:nvSpPr>
          <p:cNvPr id="11" name="Shape 8"/>
          <p:cNvSpPr/>
          <p:nvPr/>
        </p:nvSpPr>
        <p:spPr>
          <a:xfrm>
            <a:off x="706993" y="3730347"/>
            <a:ext cx="7730014" cy="22860"/>
          </a:xfrm>
          <a:prstGeom prst="roundRect">
            <a:avLst>
              <a:gd name="adj" fmla="val 132558"/>
            </a:avLst>
          </a:prstGeom>
          <a:solidFill>
            <a:srgbClr val="D6D0D0"/>
          </a:solidFill>
          <a:ln/>
        </p:spPr>
      </p:sp>
      <p:sp>
        <p:nvSpPr>
          <p:cNvPr id="12" name="Text 9"/>
          <p:cNvSpPr/>
          <p:nvPr/>
        </p:nvSpPr>
        <p:spPr>
          <a:xfrm>
            <a:off x="908923" y="3932277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Built on Parquet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08923" y="4355783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 stays in open Parquet format — no vendor lock-in.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06993" y="4863227"/>
            <a:ext cx="7730014" cy="1132880"/>
          </a:xfrm>
          <a:prstGeom prst="rect">
            <a:avLst/>
          </a:prstGeom>
          <a:solidFill>
            <a:srgbClr val="F0EAEA"/>
          </a:solidFill>
          <a:ln/>
        </p:spPr>
      </p:sp>
      <p:sp>
        <p:nvSpPr>
          <p:cNvPr id="15" name="Shape 12"/>
          <p:cNvSpPr/>
          <p:nvPr/>
        </p:nvSpPr>
        <p:spPr>
          <a:xfrm>
            <a:off x="706993" y="4863227"/>
            <a:ext cx="7730014" cy="22860"/>
          </a:xfrm>
          <a:prstGeom prst="roundRect">
            <a:avLst>
              <a:gd name="adj" fmla="val 132558"/>
            </a:avLst>
          </a:prstGeom>
          <a:solidFill>
            <a:srgbClr val="D6D0D0"/>
          </a:solidFill>
          <a:ln/>
        </p:spPr>
      </p:sp>
      <p:sp>
        <p:nvSpPr>
          <p:cNvPr id="16" name="Text 13"/>
          <p:cNvSpPr/>
          <p:nvPr/>
        </p:nvSpPr>
        <p:spPr>
          <a:xfrm>
            <a:off x="908923" y="5065157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ACID Guaranteed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908923" y="5488662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Every operation is atomic, consistent, isolated, and durable.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706993" y="5996107"/>
            <a:ext cx="7730014" cy="1132880"/>
          </a:xfrm>
          <a:prstGeom prst="rect">
            <a:avLst/>
          </a:prstGeom>
          <a:solidFill>
            <a:srgbClr val="F0EAEA"/>
          </a:solidFill>
          <a:ln/>
        </p:spPr>
      </p:sp>
      <p:sp>
        <p:nvSpPr>
          <p:cNvPr id="19" name="Shape 16"/>
          <p:cNvSpPr/>
          <p:nvPr/>
        </p:nvSpPr>
        <p:spPr>
          <a:xfrm>
            <a:off x="706993" y="5996107"/>
            <a:ext cx="7730014" cy="22860"/>
          </a:xfrm>
          <a:prstGeom prst="roundRect">
            <a:avLst>
              <a:gd name="adj" fmla="val 132558"/>
            </a:avLst>
          </a:prstGeom>
          <a:solidFill>
            <a:srgbClr val="D6D0D0"/>
          </a:solidFill>
          <a:ln/>
        </p:spPr>
      </p:sp>
      <p:sp>
        <p:nvSpPr>
          <p:cNvPr id="20" name="Text 17"/>
          <p:cNvSpPr/>
          <p:nvPr/>
        </p:nvSpPr>
        <p:spPr>
          <a:xfrm>
            <a:off x="908923" y="6198037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Unified Engine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908923" y="6621542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One table for both streaming and batch workloads.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706993" y="7331393"/>
            <a:ext cx="7730014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🌐</a:t>
            </a:r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www.cloudpandith.com | </a:t>
            </a:r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📞</a:t>
            </a:r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8904424822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42568"/>
            <a:ext cx="9280803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Core Concepts: How Delta Lake Works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2228" y="1486614"/>
            <a:ext cx="487323" cy="487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2228" y="2183249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Transaction Log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82228" y="2588300"/>
            <a:ext cx="652831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Every change is recorded in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1615C"/>
                </a:solidFill>
                <a:highlight>
                  <a:srgbClr val="EFEF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_delta_log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like a bank passbook. </a:t>
            </a:r>
            <a:pPr algn="l" indent="0" marL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"Data is in Parquet, control is in the log."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9856" y="1486614"/>
            <a:ext cx="487323" cy="4873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19856" y="2183249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ACID Transactions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419856" y="2588300"/>
            <a:ext cx="652831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Atomic, Consistent, Isolated, Durable. All or nothing — no half-written data, ever.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228" y="3503057"/>
            <a:ext cx="487323" cy="4873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2228" y="4199692"/>
            <a:ext cx="2693313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Schema Enforcement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682228" y="4604742"/>
            <a:ext cx="652831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Rejects bad data at write time. Allows safe schema evolution without breaking pipelines.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19856" y="3503057"/>
            <a:ext cx="487323" cy="4873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19856" y="419969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Time Travel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7419856" y="4604742"/>
            <a:ext cx="652831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Query any previous snapshot: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1615C"/>
                </a:solidFill>
                <a:highlight>
                  <a:srgbClr val="EFEF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AS OF 2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Debugging and auditing made effortless.</a:t>
            </a:r>
            <a:endParaRPr lang="en-US" sz="1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2228" y="5519499"/>
            <a:ext cx="487323" cy="4873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2228" y="621613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Upserts via MERGE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682228" y="6621185"/>
            <a:ext cx="652831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Update and insert in one atomic statement. True ETL is finally possible on a data lake.</a:t>
            </a:r>
            <a:endParaRPr lang="en-US" sz="15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19856" y="5519499"/>
            <a:ext cx="487323" cy="48732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19856" y="621613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Batch + Streaming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7419856" y="6621185"/>
            <a:ext cx="652831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same Delta table serves both real-time streaming and scheduled batch jobs simultaneously.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682228" y="7389376"/>
            <a:ext cx="13265944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🌐</a:t>
            </a:r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www.cloudpandith.com | </a:t>
            </a:r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📞</a:t>
            </a:r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8904424822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9897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Real-World Impact: Student Enrollment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5108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Let's make it concrete. A live enrollment platform processing thousands of records daily exposes every data lake weakness — and every Delta Lake strength.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0436" y="3932039"/>
            <a:ext cx="6571417" cy="2591991"/>
          </a:xfrm>
          <a:prstGeom prst="roundRect">
            <a:avLst>
              <a:gd name="adj" fmla="val 1313"/>
            </a:avLst>
          </a:prstGeom>
          <a:solidFill>
            <a:srgbClr val="1D1D1B"/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4158853"/>
            <a:ext cx="3088005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❌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Without Delta Lake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4755237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Duplicate student records after retry logic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Partial payment entries when job crashes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 rollback when wrong data is loaded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Schema drift silently breaks downstream reports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158853"/>
            <a:ext cx="2835235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With Delta Lake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755237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MERGE ensures clean, deduplicated upserts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Atomic writes — either all data lands or none does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Roll back to any prior version in seconds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Schema enforcement blocks bad data at the gate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779181"/>
            <a:ext cx="13042821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🌐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www.cloudpandith.com | 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📞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8904424822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0EA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607" y="584716"/>
            <a:ext cx="5295067" cy="7060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846" y="681157"/>
            <a:ext cx="7804309" cy="119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Why Data Engineers Choose Delta Lake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669846" y="2215039"/>
            <a:ext cx="3801189" cy="631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ACID</a:t>
            </a:r>
            <a:endParaRPr lang="en-US" sz="4950" dirty="0"/>
          </a:p>
        </p:txBody>
      </p:sp>
      <p:sp>
        <p:nvSpPr>
          <p:cNvPr id="6" name="Text 3"/>
          <p:cNvSpPr/>
          <p:nvPr/>
        </p:nvSpPr>
        <p:spPr>
          <a:xfrm>
            <a:off x="1374219" y="3063240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Guaranteed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9846" y="3459004"/>
            <a:ext cx="3801189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Every transaction is safe, consistent, and durable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72846" y="2215039"/>
            <a:ext cx="3801308" cy="631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1×</a:t>
            </a:r>
            <a:endParaRPr lang="en-US" sz="4950" dirty="0"/>
          </a:p>
        </p:txBody>
      </p:sp>
      <p:sp>
        <p:nvSpPr>
          <p:cNvPr id="9" name="Text 6"/>
          <p:cNvSpPr/>
          <p:nvPr/>
        </p:nvSpPr>
        <p:spPr>
          <a:xfrm>
            <a:off x="5377339" y="3063240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Unified Table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672846" y="3459004"/>
            <a:ext cx="3801308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Batch and streaming on the same table — no duplication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671286" y="4441865"/>
            <a:ext cx="3801308" cy="631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950"/>
              </a:lnSpc>
              <a:buNone/>
            </a:pPr>
            <a:r>
              <a:rPr lang="en-US" sz="4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∞</a:t>
            </a:r>
            <a:endParaRPr lang="en-US" sz="4950" dirty="0"/>
          </a:p>
        </p:txBody>
      </p:sp>
      <p:sp>
        <p:nvSpPr>
          <p:cNvPr id="12" name="Text 9"/>
          <p:cNvSpPr/>
          <p:nvPr/>
        </p:nvSpPr>
        <p:spPr>
          <a:xfrm>
            <a:off x="3375779" y="5290066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Version History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2671286" y="5685830"/>
            <a:ext cx="3801308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Time travel to any prior snapshot for audit or debug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56905" y="6613327"/>
            <a:ext cx="751724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"Without Delta → engineers fix data. With Delta → engineers build features."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9846" y="6431756"/>
            <a:ext cx="22860" cy="645319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6" name="Text 13"/>
          <p:cNvSpPr/>
          <p:nvPr/>
        </p:nvSpPr>
        <p:spPr>
          <a:xfrm>
            <a:off x="669846" y="7258645"/>
            <a:ext cx="7804309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🌐</a:t>
            </a:r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www.cloudpandith.com | </a:t>
            </a:r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📞</a:t>
            </a:r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8904424822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31865"/>
            <a:ext cx="11648242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Delta Lake Powers Every Modern Platform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744147"/>
            <a:ext cx="1309235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Delta Lake isn't a niche tool — it's the foundation of the modern lakehouse. Every major cloud data platform has adopted it as the default storage format.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9025" y="2675811"/>
            <a:ext cx="4222194" cy="2820472"/>
          </a:xfrm>
          <a:prstGeom prst="roundRect">
            <a:avLst>
              <a:gd name="adj" fmla="val 1169"/>
            </a:avLst>
          </a:prstGeom>
          <a:solidFill>
            <a:srgbClr val="F0EAEA"/>
          </a:solidFill>
          <a:ln/>
        </p:spPr>
      </p:sp>
      <p:sp>
        <p:nvSpPr>
          <p:cNvPr id="5" name="Shape 3"/>
          <p:cNvSpPr/>
          <p:nvPr/>
        </p:nvSpPr>
        <p:spPr>
          <a:xfrm>
            <a:off x="988695" y="2895481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1D1D1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9908" y="3076694"/>
            <a:ext cx="296585" cy="2965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8695" y="376737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Databricks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88695" y="4238268"/>
            <a:ext cx="3782854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Invented Delta Lake. It's the native table format for all Databricks workloads.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203984" y="2675811"/>
            <a:ext cx="4222313" cy="2820472"/>
          </a:xfrm>
          <a:prstGeom prst="roundRect">
            <a:avLst>
              <a:gd name="adj" fmla="val 1169"/>
            </a:avLst>
          </a:prstGeom>
          <a:solidFill>
            <a:srgbClr val="F0EAEA"/>
          </a:solidFill>
          <a:ln/>
        </p:spPr>
      </p:sp>
      <p:sp>
        <p:nvSpPr>
          <p:cNvPr id="10" name="Shape 7"/>
          <p:cNvSpPr/>
          <p:nvPr/>
        </p:nvSpPr>
        <p:spPr>
          <a:xfrm>
            <a:off x="5423654" y="2895481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1D1D1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4867" y="3076694"/>
            <a:ext cx="296585" cy="2965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3654" y="376737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Microsoft Fabric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5423654" y="4238268"/>
            <a:ext cx="378297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OneLake uses Delta/Parquet as the default open format across all workloads.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9639062" y="2675811"/>
            <a:ext cx="4222313" cy="2820472"/>
          </a:xfrm>
          <a:prstGeom prst="roundRect">
            <a:avLst>
              <a:gd name="adj" fmla="val 1169"/>
            </a:avLst>
          </a:prstGeom>
          <a:solidFill>
            <a:srgbClr val="F0EAEA"/>
          </a:solidFill>
          <a:ln/>
        </p:spPr>
      </p:sp>
      <p:sp>
        <p:nvSpPr>
          <p:cNvPr id="15" name="Shape 11"/>
          <p:cNvSpPr/>
          <p:nvPr/>
        </p:nvSpPr>
        <p:spPr>
          <a:xfrm>
            <a:off x="9858732" y="2895481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1D1D1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39945" y="3076694"/>
            <a:ext cx="296585" cy="2965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58732" y="376737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Azure Synapse</a:t>
            </a:r>
            <a:endParaRPr lang="en-US" sz="2150" dirty="0"/>
          </a:p>
        </p:txBody>
      </p:sp>
      <p:sp>
        <p:nvSpPr>
          <p:cNvPr id="18" name="Text 13"/>
          <p:cNvSpPr/>
          <p:nvPr/>
        </p:nvSpPr>
        <p:spPr>
          <a:xfrm>
            <a:off x="9858732" y="4238268"/>
            <a:ext cx="378297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Synapse Analytics supports Delta Lake natively for both SQL and Spark pools.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769025" y="5735717"/>
            <a:ext cx="13092351" cy="1261229"/>
          </a:xfrm>
          <a:prstGeom prst="roundRect">
            <a:avLst>
              <a:gd name="adj" fmla="val 2613"/>
            </a:avLst>
          </a:prstGeom>
          <a:solidFill>
            <a:srgbClr val="B6D6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695" y="6077069"/>
            <a:ext cx="274558" cy="21967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82923" y="6003369"/>
            <a:ext cx="12158782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Would you trust business decisions on raw data lake tables?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That's why every modern platform ships with Delta built in.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69025" y="7236381"/>
            <a:ext cx="13092351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🌐</a:t>
            </a:r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www.cloudpandith.com | </a:t>
            </a:r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📞</a:t>
            </a:r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8904424822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0EA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3" y="575310"/>
            <a:ext cx="5309235" cy="70789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43242" y="563285"/>
            <a:ext cx="443019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Takeaway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106597" y="1324689"/>
            <a:ext cx="7903607" cy="229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Delta Lake doesn't replace the data lake. It fixes it.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372344" y="3980498"/>
            <a:ext cx="763785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"If data is oil, Delta Lake is the refinery that makes it usable."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106597" y="3824764"/>
            <a:ext cx="22860" cy="56388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8" name="Text 5"/>
          <p:cNvSpPr/>
          <p:nvPr/>
        </p:nvSpPr>
        <p:spPr>
          <a:xfrm>
            <a:off x="6106597" y="4544378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06597" y="4822627"/>
            <a:ext cx="3882628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0" name="Text 7"/>
          <p:cNvSpPr/>
          <p:nvPr/>
        </p:nvSpPr>
        <p:spPr>
          <a:xfrm>
            <a:off x="6106597" y="4956929"/>
            <a:ext cx="274748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Understand the Problem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106597" y="5316736"/>
            <a:ext cx="388262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Raw data lakes lack ACID guarantees — reliability must be added.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127575" y="4544378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0127575" y="4822627"/>
            <a:ext cx="3882628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4" name="Text 11"/>
          <p:cNvSpPr/>
          <p:nvPr/>
        </p:nvSpPr>
        <p:spPr>
          <a:xfrm>
            <a:off x="10127575" y="495692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Adopt Delta Lake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127575" y="5316736"/>
            <a:ext cx="388262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Open-source, Parquet-based, and compatible with every major cloud platform.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06597" y="6092785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106597" y="6371034"/>
            <a:ext cx="7903607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8" name="Text 15"/>
          <p:cNvSpPr/>
          <p:nvPr/>
        </p:nvSpPr>
        <p:spPr>
          <a:xfrm>
            <a:off x="6106597" y="6505337"/>
            <a:ext cx="261758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Build Reliable Pipelines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106597" y="6865144"/>
            <a:ext cx="790360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 MERGE, time travel, and schema enforcement to ship with confidence.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106597" y="7406164"/>
            <a:ext cx="7903607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🌐</a:t>
            </a:r>
            <a:pPr algn="ctr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pPr algn="ctr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www.cloudpandith.com</a:t>
            </a:r>
            <a:pPr algn="ctr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| </a:t>
            </a:r>
            <a:pPr algn="ctr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📞</a:t>
            </a:r>
            <a:pPr algn="ctr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pPr algn="ctr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8904424822</a:t>
            </a:r>
            <a:pPr algn="ctr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Learn Delta Lake with CloudPandith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2026-05-04T01:54:28Z</dcterms:created>
  <dcterms:modified xsi:type="dcterms:W3CDTF">2026-05-04T01:54:28Z</dcterms:modified>
</cp:coreProperties>
</file>