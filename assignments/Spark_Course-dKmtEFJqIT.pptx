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1" r:id="rId2"/>
    <p:sldId id="282" r:id="rId3"/>
    <p:sldId id="257" r:id="rId4"/>
    <p:sldId id="258" r:id="rId5"/>
    <p:sldId id="259" r:id="rId6"/>
    <p:sldId id="260" r:id="rId7"/>
    <p:sldId id="261" r:id="rId8"/>
    <p:sldId id="263" r:id="rId9"/>
    <p:sldId id="264" r:id="rId10"/>
    <p:sldId id="265" r:id="rId11"/>
    <p:sldId id="266" r:id="rId12"/>
    <p:sldId id="267" r:id="rId13"/>
    <p:sldId id="268" r:id="rId14"/>
    <p:sldId id="269" r:id="rId15"/>
    <p:sldId id="270" r:id="rId16"/>
    <p:sldId id="295" r:id="rId17"/>
    <p:sldId id="271" r:id="rId18"/>
    <p:sldId id="272" r:id="rId19"/>
    <p:sldId id="273" r:id="rId20"/>
    <p:sldId id="274" r:id="rId21"/>
    <p:sldId id="275" r:id="rId22"/>
    <p:sldId id="276" r:id="rId23"/>
    <p:sldId id="280" r:id="rId24"/>
    <p:sldId id="278" r:id="rId25"/>
    <p:sldId id="279" r:id="rId26"/>
    <p:sldId id="277" r:id="rId27"/>
    <p:sldId id="283" r:id="rId28"/>
    <p:sldId id="284" r:id="rId29"/>
    <p:sldId id="29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2-10-08T04:36:23.577"/>
    </inkml:context>
    <inkml:brush xml:id="br0">
      <inkml:brushProperty name="width" value="0.05292" units="cm"/>
      <inkml:brushProperty name="height" value="0.05292" units="cm"/>
      <inkml:brushProperty name="color" value="#FF0000"/>
    </inkml:brush>
  </inkml:definitions>
  <inkml:trace contextRef="#ctx0" brushRef="#br0">9860 5309 0,'0'0'0,"0"-35"15,0 0 1,0 52 62,0 36-62,0 0-16,0 35 15,35 71 1,-35 18 0,0 52-1,0-70 1,0-106-16,0 35 15,0-18 1,0-34 0,0-1 15</inkml:trace>
  <inkml:trace contextRef="#ctx0" brushRef="#br0" timeOffset="696.6">9560 6403 0,'0'0'0,"0"-71"32,0 36-17,18 35 32,-18 18-47,70-18 16,-70 53-1,53 70 1,18 1 0,-18-54-1,-18-17 1,-35-18-1,18-35 1,-18 36 0,35-36 15,-35-18-31,71-17 16,34-124-1,-16-17 1,-36 34-1,-18 107 1,-35 0 15</inkml:trace>
  <inkml:trace contextRef="#ctx0" brushRef="#br0" timeOffset="38569.4">8061 3616 0,'-35'-35'16,"-1"35"-16,-16 0 15,16 0 1,1 0-16,-18 53 15,0 17 17,18 36-17,35-18 1,0-17 0,53-36-1,-18-35-15,71 0 16,35 0-1,-106-18 1,36-17 0,-36 35-1</inkml:trace>
  <inkml:trace contextRef="#ctx0" brushRef="#br0" timeOffset="38920.37">8326 3722 0,'0'0'0,"-36"0"0,1 0 16,35 35-1,-53 18 1,53 0 0,18-18-1,88-35 1,-54 0-1,19 0 1,-36-17 0,-35-72-1,-17 54 1,-89 0 0,35 35-1,18 17 1,53 19 15,18-36-31</inkml:trace>
  <inkml:trace contextRef="#ctx0" brushRef="#br0" timeOffset="39202.41">8714 3422 0,'0'0'0,"0"18"63,0 17-63,70 0 15,-70 36 1,35-36-16,-35 71 31,0-71-15</inkml:trace>
  <inkml:trace contextRef="#ctx0" brushRef="#br0" timeOffset="39736.58">8996 3457 0,'0'0'0,"0"53"63,0-18-63,0 1 15,0-1-15,0 0 32,53 18-17,17 0 1,-17-53-16,-17 0 16,-1 0 15,-35-18-16,0-17 1,0-18 0,0 18-1,-35-18 1,35 71 46,0 52-46,0-34 0,35 16-1,0-16 1,53-1 0,-35-35-1</inkml:trace>
  <inkml:trace contextRef="#ctx0" brushRef="#br0" timeOffset="40586.01">9454 3634 0,'0'0'0,"-35"0"16,35-71-16,0 36 15,53 35 32,0 35-31,-53 0-1,88 36 1,-88-18 0,0-18-1,0-53 32,0-17-47,35-35 16,36 34-1,-18 1 1,-18 35 0,0 18-1,1 35 1,17 17-16,-53-35 31,0-17 0,0-53 1,0 0-17,0-89 1,53 89-1,-53-1-15,35 36 16,0 0 0,-17 18-1,-18 17-15,35 1 16,-35-1 0,0-53 62,0-17-78,0 0 15,71-36 1,-18 71 0,-1 0-1,-52 35 1,36 36-1,-36-18 1,0 0 0,0-18-1,35-35-15</inkml:trace>
  <inkml:trace contextRef="#ctx0" brushRef="#br0" timeOffset="41256.44">10866 3422 0,'0'0'0,"-71"0"0,71-35 15,0 52 1,18 54-1,35 17 17,-53-53-17,0 1 1,-18-36 0,-17-53-1,35-36 1,0-69-1,70 34 1,-35 124 0,18 124-1,36-36 1,16-35 0,-34 0-1,-36-53 1,1-53-1,-36-35 1,-36-53 15,1-1-15,35 107 0,-35 106-1,35 87 1</inkml:trace>
  <inkml:trace contextRef="#ctx0" brushRef="#br0" timeOffset="42269.44">11712 3351 0,'0'0'0,"0"-53"16,-35 53-1,0 0-15,-54 0 32,72 36-17,17 17 1,0 0 0,70-18-1,19-35 1,-54 0-1,-35-18 1,0-35 0,0 18-1,0 70 32,0 36-31,70-18-1,-17-18 1,0-35 0,18 0-1,-71-35 17,0-36-17,0 1 1,0 34-1,35 72 17,0 17-17,1-1 1,-1-16 0,0-36-1,-35 35-15,0-70 47,0-1-31,0-69-1,0 87 1,35-17 0,1 35-1,-1 88 1,0-18-1,1-34 1,-36 17 0,0-71 31,0-17-32,0-18-15,0-71 16,70 71 15,-17 53-15,-18 18-1,1 35 1,-1 0 0,18 17-1,-36-34 1,19-36-1</inkml:trace>
  <inkml:trace contextRef="#ctx0" brushRef="#br0" timeOffset="42587.18">12823 3440 0,'36'0'15,"34"0"1,-17-36-1,18 36-15,-36-35 32,0-71-32,-35 53 31,-17 18-15,-71 35-1,-1 88 1,89 36-1,0-19 1,89 72 0,16-71-1</inkml:trace>
  <inkml:trace contextRef="#ctx0" brushRef="#br0" timeOffset="43437.25">8925 4145 0,'0'0'0,"0"-35"31,18 105 1,-18-34-32,35 52 15,-35-53 1,0 0 0,0-52 15,-17-54-16,17-52 17,17 88-17,18 35 1,18 70 0,106 1-1,-88-1 1,35-35-1,-18-35 1,-35-17 0,-53-36-1,0-53 1,-89-35 0,54 141 15,0 53-16,35-18 1,0 36 0,88-36-16</inkml:trace>
  <inkml:trace contextRef="#ctx0" brushRef="#br0" timeOffset="43737.58">9719 4304 0,'0'35'31,"71"0"0,-36-35-31,0 0 16,36-17 0,-71-18 15,-18-71-16,-53 70 1,36 36 0,0 36-16,35 17 31,18-18-15,34-35-16</inkml:trace>
  <inkml:trace contextRef="#ctx0" brushRef="#br0" timeOffset="44070.13">10125 4110 0,'0'35'32,"0"0"-17,0 1-15,70-1 16,-17 53-1,-70-88 32,17-17-31,0-19 0,0 1 15,17 35-31,36 0 15,0-35 1,-18 35 0,1 0-1</inkml:trace>
  <inkml:trace contextRef="#ctx0" brushRef="#br0" timeOffset="44351.98">10848 4110 0,'-18'0'16,"-35"0"-1,18 0-15,0 70 16,35-17-1,0-17 1,70-36 0,107 53-1,-142-53 1,0-18 0</inkml:trace>
  <inkml:trace contextRef="#ctx0" brushRef="#br0" timeOffset="44734.35">10954 3969 0,'0'0'0,"0"35"47,0 0-47,0 1 15,53 34 1,-18 1-1,-35-36 1,0-53 31,0-17-47,35-35 16,0 70-1,1 0 16,-1 17-15,0 18 0,1 1-1,-36-1 1,35-35 0</inkml:trace>
  <inkml:trace contextRef="#ctx0" brushRef="#br0" timeOffset="45072.39">11412 4075 0,'36'0'31,"-1"0"-15,0 0-16,0 0 15,1-36 1,-36 1-1,0 0 1,-71 35 15,1 17-15,34 89 0,36-53-1,18-18 1,70 1-1,-35-36-15,71 0 16,-19 0 0,-69 0-1</inkml:trace>
  <inkml:trace contextRef="#ctx0" brushRef="#br0" timeOffset="45286.45">11818 4039 0,'0'0'0,"-35"0"0,0 0 16,35 36 15,0 69-15,17-87 0,71 88-1,1-106 1,-54 0-1,0 0-15</inkml:trace>
  <inkml:trace contextRef="#ctx0" brushRef="#br0" timeOffset="45522.37">12012 3986 0,'0'36'47,"0"-1"-47,0 0 15,0 1 1,0 16 0,0-16-16,35 17 15,-17-53 16</inkml:trace>
  <inkml:trace contextRef="#ctx0" brushRef="#br0" timeOffset="45834.84">12206 4057 0,'0'0'16,"0"71"15,0-19-16,-53-16 1,18-36 0,17 0-16,18-18 31,0 0-15,36 18 15,-1 0-31,-35 36 15,70-1 1,-17 18 0,0-53-1,18 0 1</inkml:trace>
  <inkml:trace contextRef="#ctx0" brushRef="#br0" timeOffset="46185.43">12453 4198 0,'0'18'31,"71"-18"-15,-54 0-1,19 0-15,34 0 16,-35 0-1,1 0 1,-36-36 0,0 1-1,-53 35 1,-35 18 0,52 35-1,-17-18 1,53 0-1,36 1 1,34-36 0</inkml:trace>
  <inkml:trace contextRef="#ctx0" brushRef="#br0" timeOffset="46651.7">12912 4233 0,'0'36'32,"0"-1"15,35-35-16,-35-18-16,53-17 1,-53 0-16,0-1 16,0-16-1,0-90 1,0 107 0,0 53 15,-35 52-16,35 1 1,0-1 0,0-17-1,35 53 1,-35 0 0,0-53-1,0-18 1,-18-35-1</inkml:trace>
  <inkml:trace contextRef="#ctx0" brushRef="#br0" timeOffset="54484.11">14129 14676 0,'0'0'0,"17"0"15,72-53 1,-1 35 0,-53-17-1,71-89 1,-36-70-1,-52-35 1,-18 123-16,0-70 16,0-442-1,-35 336 1,35 53 0,17 88-1,1 35 1,0 0-1,-18 88 142,0-35-142,0 36 1,0-36 0,0 35-16,0-17 15,0-18 1,-18 35 93,0 18-62,1 0-47,-1 18 16,-35 17-16,36-35 15,-72 71 1,37-36 0,-19 36-1,53-54 1,1 1 15,-1 0 0,18-36 32,18 0-48,35-17-15,0 0 16,-18-18-16,0 18 16,-17 17 46,-1 18-31,1 0-15,17 0 15,-17 0 63,0 0-47,17 0-31,0 0-16,18 0 15,-18 0-15,142 53 16,-89 0-1,-18-18 1,-52-35 0,0 0-1,-1 18 17,1-1-17,0 1 1,-1-18-1,1 18 1,0-18 31</inkml:trace>
  <inkml:trace contextRef="#ctx0" brushRef="#br0" timeOffset="57449.27">15857 13547 0,'0'0'0,"0"-36"32,0 107 15,0-18-32,0 0-15,0 0 16,0 17-16,0 18 15,0-17 1,18-53 15</inkml:trace>
  <inkml:trace contextRef="#ctx0" brushRef="#br0" timeOffset="57833.75">15681 13652 0,'0'0'0,"0"-70"31,53 70-15,-18 0-16,18 0 16,141 106-1,-159-71 1,1 0-16,-1 36 15,-35-1 1,-53-34 0,-88 70-1,88-106 17,-35 35-17,0-35 1,52 0-1,1 0-15,0 0 16,0 0 0,52 0-1</inkml:trace>
  <inkml:trace contextRef="#ctx0" brushRef="#br0" timeOffset="58334.82">16545 13758 0,'0'0'0,"-35"0"0,-18 0 16,53-17-1,-35 17 1,0 17 0,35 36-1,0 0-15,0 0 16,52-18 0,19-35-1,-36-35 32,-35-35-47,0-1 16,0 36-1,0-1 1,0 54 15,0 70-15,36 36-1,-1-54 1,0 1 0,-35-54-1,35-17-15</inkml:trace>
  <inkml:trace contextRef="#ctx0" brushRef="#br0" timeOffset="58549.28">16704 13494 0,'0'17'31,"0"19"-15,0 17-1,35 52 1,89 37-1,-89-107 1,-35 0-16</inkml:trace>
  <inkml:trace contextRef="#ctx0" brushRef="#br0" timeOffset="59049.41">16845 13705 0,'0'0'0,"0"-35"15,18 35 17,70-35-32,18 35 15,17-53 17,-87 53-32,-19 0 15,-52 0 32,0 0-47,35 53 16,-71 17-1,71-17 1,0-17 0,18-36-1,70 0 1,-35-36-1,-53-34 1,0 34 0,0 72 31,0-1-32,35 0 1,0 18-1,71 0 1</inkml:trace>
  <inkml:trace contextRef="#ctx0" brushRef="#br0" timeOffset="59252.42">17515 13494 0,'0'0'0,"0"17"31,0 19-31,36 87 16,34-52-1,-70-36-15,53 18 16,-18-18 15</inkml:trace>
  <inkml:trace contextRef="#ctx0" brushRef="#br0" timeOffset="59448.88">17498 13547 0,'0'-18'15,"35"-35"1,0 53-16,54 0 15,-1 0 1,-53 0-16</inkml:trace>
  <inkml:trace contextRef="#ctx0" brushRef="#br0" timeOffset="59633.59">17374 13617 0,'18'0'31,"17"0"-31,18 0 16,53 0 0,0 0-1,-106-17-15</inkml:trace>
  <inkml:trace contextRef="#ctx0" brushRef="#br0" timeOffset="59949.71">17780 13564 0,'35'0'16,"1"18"-1,-36 17-15,88 18 16,-53-18-1,53 36 1,-88 0 0,-17-71-1,-54 0 1,53 0 0,18-18-1,0-159 1,53 89-1,-17 88 1,17-35 0,-18 35-1</inkml:trace>
  <inkml:trace contextRef="#ctx0" brushRef="#br0" timeOffset="60983.21">18503 13494 0,'0'0'0,"-17"0"15,-36 0 1,17 0 0,-17 35-1,53 36 1,0-36-16,0 0 15,18 36 1,35-54 0,-18-17-1,1 0 17,-36-35-17,0-36 1,0 36-1,0 70 32,0 18-31,35-17 0,18 17-1,-53-106 48,0 17-63,0 1 15,0-18 1,17 53-16,-17-35 16,36 35-1,-1 0 16,-35 18-31,35-18 16,0 123 0,1-88-1,-1-35 48,-35-17-63,35-54 15,1 71 1,-36-35 0,35 35-1,0 35-15,0-17 32,18 17-17,-53 0 1,-17-35 15,-19-17-15,36-36-1,0 17 1,53-34 0,0 70-1,-17 0 1,-1 18-1,-35 17 1,35-35-16,-35 35 16,0 0-1</inkml:trace>
  <inkml:trace contextRef="#ctx0" brushRef="#br0" timeOffset="61317.66">19438 13635 0,'35'0'0,"1"0"16,17 0 0,-53-35-1,35 35-15,-35-18 16,0-53-1,0 18 1,-18 53-16,-35 0 16,18 18 15,-18-18-31,53 53 0,0 18 31,0-19-15,35 19-1,1-36 1,34-35 0,-35 36-1</inkml:trace>
  <inkml:trace contextRef="#ctx0" brushRef="#br0" timeOffset="61998.35">16439 14340 0,'0'0'0,"-17"0"16,-18 0 15,35 18-15,-18 35-1,18 0 1,0 0 0,70 53-1,1-36 1,0-35-16,-1 1 16,-70-1 15,-18-35-16,-87 0 1,-1 0 0,53 0-1,53-18 32,18 18-31</inkml:trace>
  <inkml:trace contextRef="#ctx0" brushRef="#br0" timeOffset="62249.75">16651 14393 0,'0'0'0,"35"0"46,-35 36-30,36-1-16,-36 0 16,35 36-1,0-18-15,18 0 16,-53-18 15</inkml:trace>
  <inkml:trace contextRef="#ctx0" brushRef="#br0" timeOffset="62450.35">16633 14623 0,'0'0'16,"0"-36"-1,18 36 1,17 0-16,1 0 15,52 0 1,-18 0 0,-52 0-1</inkml:trace>
  <inkml:trace contextRef="#ctx0" brushRef="#br0" timeOffset="62882.25">16898 14446 0,'35'0'46,"1"0"-30,17 53-16,17-18 16,-35 89-1,18-89 1,-53 0 15,-35-35-15,0 0-1,35-52 1,0-19 0,0 18-1,70 53 1,1-35 0,-18 35-1</inkml:trace>
  <inkml:trace contextRef="#ctx0" brushRef="#br0" timeOffset="63248.9">17392 14446 0,'0'18'47,"0"17"-47,0 0 16,0 1-1,18 17 1,52-18 0,-35-35-1,1-18 1,-36-52 0,0 34-1,0 1 1,0 53 15,35-18-31,-35 53 16,35 17-1,1-52 1,16 35 15,19-53-31</inkml:trace>
  <inkml:trace contextRef="#ctx0" brushRef="#br0" timeOffset="63515.84">17974 14393 0,'0'0'16,"-35"0"-1,-18 0-15,18 18 16,35 35-1,0 0 1,0 17 0,52-17-1,19-53 17,-18 0-17,35 0 1,-35 0-16</inkml:trace>
  <inkml:trace contextRef="#ctx0" brushRef="#br0" timeOffset="63798.09">18203 14288 0,'0'0'0,"0"35"62,0 18-62,0-18 16,0 0 0,36 36-1,-1-1 1,0 1-1</inkml:trace>
  <inkml:trace contextRef="#ctx0" brushRef="#br0" timeOffset="64300.71">18186 14499 0,'0'0'0,"17"0"31,19 0-15,-1 0-16,0-35 16,53 35-1,-88-35 1,36 35 0,-36 35 46,0 0-46,35 0-16,35 1 15,-34-36 1,17 0 0,-18 0-1,-35-18 1,0-88-1,0 71-15,0 0 16,-18 35 0,18 17 15,0 72-15,0-37 15,53-16-16,-18-36 1,-17 0-16</inkml:trace>
  <inkml:trace contextRef="#ctx0" brushRef="#br0" timeOffset="64631.45">18821 14376 0,'35'0'16,"-35"17"0,35-17-16,-35 71 15,36-18-15,-36-18 0,35 0 16,-35 1 0,0-54 46,0-53-46,17 1-1,36 35 1,-17 35 0,-1 0-1</inkml:trace>
  <inkml:trace contextRef="#ctx0" brushRef="#br0" timeOffset="65022.68">19297 14517 0,'35'0'0,"1"-18"31,-36-17-15,0-18 0,0 18-16,-18 35 31,-35 17-15,18 36-1,35 18 1,0-1-1,17 19 1,72-54 0,-19-35-1,18 0 1,-35 0 0,-70 0 30</inkml:trace>
  <inkml:trace contextRef="#ctx0" brushRef="#br0" timeOffset="81883.7">13494 7038 0</inkml:trace>
  <inkml:trace contextRef="#ctx0" brushRef="#br0" timeOffset="83761.75">13670 6121 0,'0'0'0,"-35"0"0,35-36 15,17 89 48,-17-17-63,36 17 16,-36 123-1,0-17 1,53-18-1,-53-71 1,0-34 0,0-1-16,0-70 78</inkml:trace>
  <inkml:trace contextRef="#ctx0" brushRef="#br0" timeOffset="84116.81">14376 6068 0,'0'0'0,"17"0"62,36 53-62,-17-18 16,-1 0-16,35 36 31,19-1-15,-1 54-1,-88-89 1</inkml:trace>
  <inkml:trace contextRef="#ctx0" brushRef="#br0" timeOffset="84475.92">14870 5944 0,'0'0'0,"-18"0"0,18-35 16,-35 35-1,35 18 1,-36 52-1,-17 1-15,-52 123 32,34-71-32,-52 89 15,87-124 1,1-17 0,35-36 15,0-53 31,0-17-46</inkml:trace>
  <inkml:trace contextRef="#ctx0" brushRef="#br0" timeOffset="85261.42">15558 6103 0,'17'0'63,"18"0"-48,1 0-15,-1-35 16,0-1 15,-35 19-15,-53-36 0,-88 53-1,53 70 1,53 1-1,35 0 1,17-54 0,54 54-1,105-36 1,-70-35 0,0 0-1,-88-35 1</inkml:trace>
  <inkml:trace contextRef="#ctx0" brushRef="#br0" timeOffset="85578.28">15946 5980 0,'0'0'0,"-36"-36"0,72 89 47,-1-18-32,35 71 1,-17-70 0,-53 17-1,-35-1 1,0-52 0,35-17-1,0-71 1,0-36-1,70 89 1,18 0 15,-35 35-15</inkml:trace>
  <inkml:trace contextRef="#ctx0" brushRef="#br0" timeOffset="85893.07">16316 5944 0,'35'0'32,"-35"36"-17,36-1-15,-36 0 16,70 71 0,-70-53-1,-18-53 48,18-35-63,0-1 15,53-70 1,36 54 0,-19-1-1,1 53 1</inkml:trace>
  <inkml:trace contextRef="#ctx0" brushRef="#br0" timeOffset="86193.4">16775 5891 0,'0'18'32,"-18"17"-32,18 18 15,0 18 1,18-36-1,52-35 1,-17 0 0,-18 0-1,-35-18 1,0-105 0,0 35-1,-17 88 1,-19 0-1,-16 0-15,52 17 16,-36 19 0,89-36-1</inkml:trace>
  <inkml:trace contextRef="#ctx0" brushRef="#br0" timeOffset="86525.59">17110 5786 0,'0'17'15,"35"-17"-15,-35 53 16,35 18 0,-35-36-16,53 35 15,-53-34 16,-17-36-15,17-53 0,0-18-1,17 1 1,36 34-16,-18 1 16</inkml:trace>
  <inkml:trace contextRef="#ctx0" brushRef="#br0" timeOffset="89262.03">14834 9066 0,'0'0'0,"36"0"47,-36 18-47,0 17 15,35 36-15,-35-53 16,0 17-16,0 0 15,53 36 1,-18-71 31,53 0-31,177-141-1,-18 17 1,-106 89-1,-123 35 1,-18 17 62,35-17-62</inkml:trace>
  <inkml:trace contextRef="#ctx0" brushRef="#br0" timeOffset="91040.56">18486 10548 0,'0'-18'0,"0"-34"31,0 16-15,17 36-16,-17-35 15,35 35 1,1-106-1,-1 36 1,0-36 0,1 53-1,-36 0-15,0-35 16,35 52 0,-35 1-1,-18 35 79,-35 18-78,0 35-1,18-53-15,-18 53 16,36-53-16,17 53 15,-71-53 1,36 35-16,52-53 94,54-17-79,-36 35 1,0-35-16,36-1 16,0 36 15,-36 0-31,18 0 16,0 0-1,-18 18 1,0 17-1,1 1 1,-36-1 0,0 0 15,0 0-15,35 1 30</inkml:trace>
  <inkml:trace contextRef="#ctx0" brushRef="#br0" timeOffset="103473.25">24500 9613 0,'0'0'16,"36"0"-1,-36 18 17,35-18-17,-35 70-15,0 71 32,0-52-17,0 17-15,-18 52 16,-17-17-1,35-52 1,-53-54 0,53 0-16,-17-35 31</inkml:trace>
  <inkml:trace contextRef="#ctx0" brushRef="#br0" timeOffset="104077.85">24536 9684 0,'0'0'0,"0"-36"0,35 36 16,-35-35-1,-35 53 48,-1-18-63,-16 88 16,-54 35-1,70-87 1,-17-1-1,71-53 48,17 18-63,1-88 16,-1 53-1,36-36 1,52-17-1,-70 88 1,0 0 0,-18 0-1,18 0 1,-53 18-16,123 70 16,-87-17-1,-1-1 1,0-35-1,-35 1 32</inkml:trace>
  <inkml:trace contextRef="#ctx0" brushRef="#br0" timeOffset="116090.11">23707 11095 0,'-36'0'0,"1"0"31,0 0-15,35-18-1,0-17 16,0 0 1,-35 35-17,35-53-15,-36 53 16,-17 0 0,-35 17 15,18 72-16,70 52 1,0 70 0,53-105-1,35-35 1,35-36 0,36-35-1,-124 0 1,0 0-16,18 0 15,-53-18 1,0-17 15</inkml:trace>
  <inkml:trace contextRef="#ctx0" brushRef="#br0" timeOffset="116553.6">24201 11359 0,'0'0'0,"-18"0"0,18-35 32,-53 35-32,0 0 15,-17 53 1,34 0-1,36 0 1,18 0 0,35-18-1,17-35 1,-34 0 0,17-70 15,-53-1-16,0 18 1,0 71 31,0 35-31,35 0-1,18-1 1,0 1-1,0-53 1</inkml:trace>
  <inkml:trace contextRef="#ctx0" brushRef="#br0" timeOffset="116771.84">24483 11024 0,'0'0'15,"0"18"17,0 88-17,35 53 1,-35-36 0,53-17-1,-18-53-15,-35 0 16,36-18-1</inkml:trace>
  <inkml:trace contextRef="#ctx0" brushRef="#br0" timeOffset="117271.33">24536 11430 0,'0'0'0,"0"-35"16,53 35-1,0 0-15,105-53 16,-17 53 0,-105 0-1,-1-35 1,-35-1 0,-18 36-1,-70 53 1,35 18-1,18-18 1,35-18 0,106 0-1,-71-35 1,18-17 0,-53-36 15,0-18-16,0 36 1,0 70 15,35 18-31,-35-35 16,35 105 0,36-70-1,-18-18 1,-18-35-16</inkml:trace>
  <inkml:trace contextRef="#ctx0" brushRef="#br0" timeOffset="117504.15">25224 11130 0,'0'0'0,"0"71"31,0-18-15,17 52-1,-17 19 1,36-18 0,-1-18-1,0-88 1</inkml:trace>
  <inkml:trace contextRef="#ctx0" brushRef="#br0" timeOffset="117971.28">25488 11395 0,'0'17'31,"0"19"-15,35-36-16,-35 35 16,71-35-16,-36 0 15,18 0 1,-17-18 0,-36-70-1,0 123 32,0 36-31,0-18-16,0 70 15,70 36 1,-35-71 0,-35-52-1,-17-1 16,-36-53-31,18-52 32,35-1-17,17 36-15,18 35 16,36-53-16</inkml:trace>
  <inkml:trace contextRef="#ctx0" brushRef="#br0" timeOffset="118272.13">26194 11377 0,'0'0'0,"0"-35"0,-18-36 31,-17 71-31,0 0 16,-1 18 0,36 70-1,0-17 1,106 17 15,-71-18-15,1-34-1,-72-36 17,1 0-17,0-18 1,52-123-1</inkml:trace>
  <inkml:trace contextRef="#ctx0" brushRef="#br0" timeOffset="118489.49">26511 10848 0,'0'70'31,"0"-17"-31,0 18 16,0 17-16,0-17 16,53 70-1,0-18 1,-53-87 0,0-1-16</inkml:trace>
  <inkml:trace contextRef="#ctx0" brushRef="#br0" timeOffset="118639.09">26529 11342 0,'0'0'0,"0"-35"16,18 35 0,52-36-1,1 36 1,-36 0 0,0 0-1</inkml:trace>
  <inkml:trace contextRef="#ctx0" brushRef="#br0" timeOffset="119492.11">25329 12524 0,'0'0'0,"-35"0"32,0 53-32,35 52 15,0 54 1,88-18-1,106-53 1,-123-88 0,52-17-1,-88-36 1,-35-53 0,0 0 15,-52 18-31,-19 0 15,0 35 1,36 53 0,-35 53-1,70-18 1,17 36 0,18-36-16</inkml:trace>
  <inkml:trace contextRef="#ctx0" brushRef="#br0" timeOffset="119720.6">26017 12629 0,'53'89'16,"-53"-54"-1,0 0-15,36 18 16,-36 18 0,70 70-1,-70-106 1,35-35 0</inkml:trace>
  <inkml:trace contextRef="#ctx0" brushRef="#br0" timeOffset="119972.47">26017 12718 0,'0'0'0,"0"-53"16,0 0-1,71 18 1,35 35 0,0 70 15,-71 36-16,-70-36 1,-89-34 0,18-36-1,71 0 1,53-18-16</inkml:trace>
  <inkml:trace contextRef="#ctx0" brushRef="#br0" timeOffset="120219.32">26582 12488 0,'0'36'31,"0"17"-31,0-1 0,35 72 31,0-36-15,1-17-1,-1-18 1</inkml:trace>
  <inkml:trace contextRef="#ctx0" brushRef="#br0" timeOffset="120393.37">26635 12753 0,'0'-35'31,"17"35"-15,19-36-16,34 36 16,71 0 15,-105-35-16</inkml:trace>
  <inkml:trace contextRef="#ctx0" brushRef="#br0" timeOffset="120569.43">26970 12559 0,'0'35'47,"0"0"-31,35-35-16,-35 53 15,35 0 1,-35 0 0</inkml:trace>
  <inkml:trace contextRef="#ctx0" brushRef="#br0" timeOffset="120711.25">26846 12365 0,'0'0'0</inkml:trace>
  <inkml:trace contextRef="#ctx0" brushRef="#br0" timeOffset="121304.95">26988 12382 0,'35'36'16,"35"34"0,-70-34-1,53-1-15,-53 0 16,71 36-1,-36-36 1,-35-53 31,0-17-31,0 0-16,53 0 15,0 35 1,17 0-1,-17 35 1,-17 18 0,-1 17-1,-35-34 1,0-54 46,0-17-62,0-1 16,0 1 0,88-35-1,-53 70 1,18 17 0,-17 18-1,-36 18 1,35-53-16,-35 36 15,70-1 1</inkml:trace>
  <inkml:trace contextRef="#ctx0" brushRef="#br0" timeOffset="121490.45">27975 12506 0,'0'0'15,"0"18"1,0 35 0,36 17-1,-1 18 1,-35-70 0,35 52-1</inkml:trace>
  <inkml:trace contextRef="#ctx0" brushRef="#br0" timeOffset="121660.99">27852 12277 0,'0'0'0,"17"0"31</inkml:trace>
  <inkml:trace contextRef="#ctx0" brushRef="#br0" timeOffset="122037.52">28099 12365 0,'35'0'16,"-35"-18"0,71 18-16,-1 0 15,18 35 1,-88-17 0,0 53 15,-17-36-16,-19 18-15,36-18 32,0 0-17,18 1 1,17-36 0,36 0-1,35 0 1,70 0-1,-141 0 1</inkml:trace>
  <inkml:trace contextRef="#ctx0" brushRef="#br0" timeOffset="122372.67">28769 12488 0,'0'0'0,"18"0"47,17 0-31,0 0-16,0 0 15,1-35 1,-36 0 0,-18-53-1,-17 88 1,-18 0-1,18 35 1,35 53 0,35 18-1,35-53 1,54 0 0,-36-53-1</inkml:trace>
  <inkml:trace contextRef="#ctx0" brushRef="#br0" timeOffset="122712.23">29139 12382 0,'36'18'46,"-36"17"-46,53 1 16,-53-1-16,53 0 16,-36 18-1,-17-88 48,0 0-63,0-18 15,53 17 1,-18 1 0,1 35-1,-89 0 1</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2-10-08T04:38:59.332"/>
    </inkml:context>
    <inkml:brush xml:id="br0">
      <inkml:brushProperty name="width" value="0.05292" units="cm"/>
      <inkml:brushProperty name="height" value="0.05292" units="cm"/>
      <inkml:brushProperty name="color" value="#FF0000"/>
    </inkml:brush>
  </inkml:definitions>
  <inkml:trace contextRef="#ctx0" brushRef="#br0">15469 16404 0</inkml:trace>
  <inkml:trace contextRef="#ctx0" brushRef="#br0" timeOffset="3877.11">4886 13829 0,'0'0'0,"71"0"62,-19 0-46,1 0-16,0 0 15,88 0 1,18-18 0,-71 18-1,-35-35 1,0 35 0,-53 18-1</inkml:trace>
  <inkml:trace contextRef="#ctx0" brushRef="#br0" timeOffset="4172.85">5168 14164 0,'0'35'31,"18"-35"-31,17 0 16,18 0 0,88 0-1,18-17 1,-124-19 0,36 36-1,-89 0 48</inkml:trace>
  <inkml:trace contextRef="#ctx0" brushRef="#br0" timeOffset="32115.19">14076 6579 0,'0'53'172,"0"53"-172,0-35 16,0-18-16,0 35 15,0 18 1,0 105 0,0-34-1,0-19 1,0 19 0,0-89-1,0 0 1,0-35-1,0-35 17</inkml:trace>
  <inkml:trace contextRef="#ctx0" brushRef="#br0" timeOffset="34241.32">13899 7708 0,'18'35'219,"-18"-17"-203,0 0 46,18-1 1,-18 36-16,17-35-47,19 17 15,-19 1 1,-17-19-16,0 18 15,18-17 1,17 17 0,-17-35-1,-1 36 1,-17-19 15,18 1-15,0 17-1,-18-17 64,17-1-64,1-17 16,0-35 235,17 0-266,-17 17 16,-18 1-16,17-36 15,1 17 17,17-34-32,-17 52 31,-1-17-16,1 35 1,17-35 0,-35 17-1,0 0-15,18-17 16,0 17 15,-1 18 0</inkml:trace>
  <inkml:trace contextRef="#ctx0" brushRef="#br0" timeOffset="38177.9">18486 13000 0,'35'0'156,"53"0"-156,-35 0 16,0 0-16,35 0 15,-17 0-15,211 0 16,71 0 0,52 0-1,19 0 17,-72 0-17,-210 0-15,-37 0 16,54 0-1,-124 0 1</inkml:trace>
  <inkml:trace contextRef="#ctx0" brushRef="#br0" timeOffset="42065.07">24959 13582 0,'0'0'0,"0"-159"31,-18 106-31,18 18 16,-17-18-1,-1 53 1,18-18-1,0 1 1,-18-1-16,-17-52 31,0-19-31,17 54 16,-52-53 15,52 17-31,-17 18 31,35 36-15,-35-18 0,35 87 62,0 19-63,0 35-15,0-18 16,0 18-16,0 141 16,0-36-1,0 54 1,0-53 0,0-18-1,0-18 16,0-52-15,0-36 0,35 0-1,-35-70 1,-35-54 93</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2-10-09T04:23:58.363"/>
    </inkml:context>
    <inkml:brush xml:id="br0">
      <inkml:brushProperty name="width" value="0.05292" units="cm"/>
      <inkml:brushProperty name="height" value="0.05292" units="cm"/>
      <inkml:brushProperty name="color" value="#FF0000"/>
    </inkml:brush>
  </inkml:definitions>
  <inkml:trace contextRef="#ctx0" brushRef="#br0">2117 6862 0,'-18'17'93,"18"18"-77,0 18-16,0 0 16,-18 35-16,18-17 15,-35 35 1,-53 247-1,70-124 1,-35 106 0,0-53-1,18 18 1,0-35 0,0-195-16,35 54 15,0-18 1,0 17-1,0-35 1,0-35 0,0 35-1,0 1 17,0 16-17,0 1 1,0-18-1,0-35 1,0 18 0,0-36-1,0 36 1,0-1 0,0-34-1,0 52 1,0-53-1,0 36 1,0-18 0,0-18 15,0-18-15,0 1-1,0 17 141,-18 1-156,18-19 32,0 19-32,0-19 15,0 1 1,0 17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68F84-6CFB-E919-0DFB-D9310CFEEF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FE1FCED-2749-850C-5FF4-A1BF949FD3A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E5BF901-638D-3DA1-B5E1-83AECBCD43A4}"/>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5" name="Footer Placeholder 4">
            <a:extLst>
              <a:ext uri="{FF2B5EF4-FFF2-40B4-BE49-F238E27FC236}">
                <a16:creationId xmlns:a16="http://schemas.microsoft.com/office/drawing/2014/main" id="{8DE2B395-857C-14B9-4229-BE187EB02F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9CED7A-6A1E-96EF-6D00-36975B4741F0}"/>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2104954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15E15-7E23-E707-BA96-C7B791D46D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DFC8FD-2155-D9DA-736B-BA329D60EA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73302C3-8A13-D4BA-2DA5-E6426313AC19}"/>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5" name="Footer Placeholder 4">
            <a:extLst>
              <a:ext uri="{FF2B5EF4-FFF2-40B4-BE49-F238E27FC236}">
                <a16:creationId xmlns:a16="http://schemas.microsoft.com/office/drawing/2014/main" id="{D2BB37E4-43DB-FF53-9809-C7EF87176E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273D5E-B543-5FC2-49A7-B45AED07D1C7}"/>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1665599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7F5A8-A638-ADF0-3F31-186F981B657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B08CC84-42DF-FAAB-1FF9-718284DBCC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6D520-768E-C0FA-F4F9-D9A856DF4BA0}"/>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5" name="Footer Placeholder 4">
            <a:extLst>
              <a:ext uri="{FF2B5EF4-FFF2-40B4-BE49-F238E27FC236}">
                <a16:creationId xmlns:a16="http://schemas.microsoft.com/office/drawing/2014/main" id="{1FA1652A-9BC7-DA7D-6BCB-84F43574C7F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912856-5240-EE6D-F640-08CA1AC69D5C}"/>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147741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AB19B-8EEB-463C-3977-E2FC000E40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96670B-43BF-3498-E258-6A587890F7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9DBC06-F06B-E976-216D-37B27E56387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DCE984-3843-6983-F393-0539008CDB01}"/>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6" name="Footer Placeholder 5">
            <a:extLst>
              <a:ext uri="{FF2B5EF4-FFF2-40B4-BE49-F238E27FC236}">
                <a16:creationId xmlns:a16="http://schemas.microsoft.com/office/drawing/2014/main" id="{F2FACDF9-E550-D961-4E71-812FBE7796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0977A36-B0BD-D68E-BA87-FB5909E3ABD4}"/>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8453823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43CFF-0675-F253-2BE2-4C6E9248C5E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287411-6D91-C045-A35D-509E9B2AAFC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2927758-3B8C-A5D2-C9DE-BAA904F876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3CC5E16-6AE5-7B4D-780E-C917EF9506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79C58A-3E08-4B9A-8D97-97B5F95CFE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10BE260-470C-9DB0-DD4E-1E7921E2B133}"/>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8" name="Footer Placeholder 7">
            <a:extLst>
              <a:ext uri="{FF2B5EF4-FFF2-40B4-BE49-F238E27FC236}">
                <a16:creationId xmlns:a16="http://schemas.microsoft.com/office/drawing/2014/main" id="{794A18C2-277C-6DA4-81B4-41645226CA7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7BD86E6-51E4-C3FC-E607-6DED8AD7EF2F}"/>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1253362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4B8F8-CABC-1D1E-2F55-01B47EA8906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E7B5DF4-42B4-DFB3-205B-782778254370}"/>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4" name="Footer Placeholder 3">
            <a:extLst>
              <a:ext uri="{FF2B5EF4-FFF2-40B4-BE49-F238E27FC236}">
                <a16:creationId xmlns:a16="http://schemas.microsoft.com/office/drawing/2014/main" id="{991528C8-26E8-24E8-EF9E-ED476D715F6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7D64D21-069C-BB4E-BF50-1A305937305B}"/>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37078364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1AF8FD2-C144-24A9-D497-AD655BD78E42}"/>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3" name="Footer Placeholder 2">
            <a:extLst>
              <a:ext uri="{FF2B5EF4-FFF2-40B4-BE49-F238E27FC236}">
                <a16:creationId xmlns:a16="http://schemas.microsoft.com/office/drawing/2014/main" id="{6966AA25-FBF0-2AC8-2F15-AE316C7B2F3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F62AD09-522D-235E-D3A6-0A149CBD548F}"/>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8963643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1DFA-915C-69D4-F247-B58254F4C75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61E432-540A-6E21-6C04-2DF41588FA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0C2F72B-C28A-47F6-70DB-1B67BC0617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E5978D-EDCD-CA40-12FF-5FEFBEC15DBF}"/>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6" name="Footer Placeholder 5">
            <a:extLst>
              <a:ext uri="{FF2B5EF4-FFF2-40B4-BE49-F238E27FC236}">
                <a16:creationId xmlns:a16="http://schemas.microsoft.com/office/drawing/2014/main" id="{2A0B4B30-BE2B-648D-1178-D474CB5E727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A22B5CA-B115-DDA7-E99B-78CAA2849396}"/>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1907511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53364-C71F-DF62-19B7-481427E10D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F909C04-8217-5ECB-4D48-6E096E4401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DAF6429-5C69-17CB-00E4-22A8913705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2E0AA4-FC20-0918-5ECA-4C129F1EAD70}"/>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6" name="Footer Placeholder 5">
            <a:extLst>
              <a:ext uri="{FF2B5EF4-FFF2-40B4-BE49-F238E27FC236}">
                <a16:creationId xmlns:a16="http://schemas.microsoft.com/office/drawing/2014/main" id="{3EE0834D-9F24-7591-E7E2-4A3D5AC3C7A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913641A-DC85-4184-DAA7-BB1736DB131C}"/>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650489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D2E41-E9B0-0918-1138-50C9D6409E1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7B4980F-47CF-CDDB-B803-DAD42969500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F5CA8A0-E32A-809F-0D79-DA6482EC1670}"/>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5" name="Footer Placeholder 4">
            <a:extLst>
              <a:ext uri="{FF2B5EF4-FFF2-40B4-BE49-F238E27FC236}">
                <a16:creationId xmlns:a16="http://schemas.microsoft.com/office/drawing/2014/main" id="{384F816B-A267-3D33-5581-42284E5012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C52237-1EC9-96BF-CE63-6B2806503337}"/>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3607396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7E34AC-557F-50C9-EC6C-6817A953F3A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FD78BC1-E37E-6621-BEC7-FC9B1859B6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33B928-2CA8-EF51-9B47-DC6D8A6221DC}"/>
              </a:ext>
            </a:extLst>
          </p:cNvPr>
          <p:cNvSpPr>
            <a:spLocks noGrp="1"/>
          </p:cNvSpPr>
          <p:nvPr>
            <p:ph type="dt" sz="half" idx="10"/>
          </p:nvPr>
        </p:nvSpPr>
        <p:spPr/>
        <p:txBody>
          <a:bodyPr/>
          <a:lstStyle/>
          <a:p>
            <a:fld id="{F73FA67F-3BA9-4B2C-9D9F-C685C12680CB}" type="datetimeFigureOut">
              <a:rPr lang="en-IN" smtClean="0"/>
              <a:t>23-09-2023</a:t>
            </a:fld>
            <a:endParaRPr lang="en-IN"/>
          </a:p>
        </p:txBody>
      </p:sp>
      <p:sp>
        <p:nvSpPr>
          <p:cNvPr id="5" name="Footer Placeholder 4">
            <a:extLst>
              <a:ext uri="{FF2B5EF4-FFF2-40B4-BE49-F238E27FC236}">
                <a16:creationId xmlns:a16="http://schemas.microsoft.com/office/drawing/2014/main" id="{F56EFF5C-B61C-D04F-53DB-978D81DAEB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5A4A22-58F4-D87A-40F1-461DF8DBBC11}"/>
              </a:ext>
            </a:extLst>
          </p:cNvPr>
          <p:cNvSpPr>
            <a:spLocks noGrp="1"/>
          </p:cNvSpPr>
          <p:nvPr>
            <p:ph type="sldNum" sz="quarter" idx="12"/>
          </p:nvPr>
        </p:nvSpPr>
        <p:spPr/>
        <p:txBody>
          <a:bodyPr/>
          <a:lstStyle/>
          <a:p>
            <a:fld id="{501FD059-96BC-4BAA-ABF0-30F5E56748B3}" type="slidenum">
              <a:rPr lang="en-IN" smtClean="0"/>
              <a:t>‹#›</a:t>
            </a:fld>
            <a:endParaRPr lang="en-IN"/>
          </a:p>
        </p:txBody>
      </p:sp>
    </p:spTree>
    <p:extLst>
      <p:ext uri="{BB962C8B-B14F-4D97-AF65-F5344CB8AC3E}">
        <p14:creationId xmlns:p14="http://schemas.microsoft.com/office/powerpoint/2010/main" val="1681486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8C311A-39CD-7F88-1C3F-1624892A3E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3E1915-A16D-CD29-519B-4F5C1F6328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74EB5C-DC2B-F409-8FD4-B3F4007353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3FA67F-3BA9-4B2C-9D9F-C685C12680CB}" type="datetimeFigureOut">
              <a:rPr lang="en-IN" smtClean="0"/>
              <a:t>23-09-2023</a:t>
            </a:fld>
            <a:endParaRPr lang="en-IN"/>
          </a:p>
        </p:txBody>
      </p:sp>
      <p:sp>
        <p:nvSpPr>
          <p:cNvPr id="5" name="Footer Placeholder 4">
            <a:extLst>
              <a:ext uri="{FF2B5EF4-FFF2-40B4-BE49-F238E27FC236}">
                <a16:creationId xmlns:a16="http://schemas.microsoft.com/office/drawing/2014/main" id="{862EF356-5A8B-ACB1-444A-00EA003B287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CCB3281-8B59-3ACD-D8B1-3537016B5D2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1FD059-96BC-4BAA-ABF0-30F5E56748B3}" type="slidenum">
              <a:rPr lang="en-IN" smtClean="0"/>
              <a:t>‹#›</a:t>
            </a:fld>
            <a:endParaRPr lang="en-IN"/>
          </a:p>
        </p:txBody>
      </p:sp>
    </p:spTree>
    <p:extLst>
      <p:ext uri="{BB962C8B-B14F-4D97-AF65-F5344CB8AC3E}">
        <p14:creationId xmlns:p14="http://schemas.microsoft.com/office/powerpoint/2010/main" val="24971600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0x0fff.com/spark-memory-management/"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databricks.com/blog/2019/08/21/diving-into-delta-lake-unpacking-the-transaction-log.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026A7-538A-794E-655D-36D63FFA215A}"/>
              </a:ext>
            </a:extLst>
          </p:cNvPr>
          <p:cNvSpPr>
            <a:spLocks noGrp="1"/>
          </p:cNvSpPr>
          <p:nvPr>
            <p:ph type="title"/>
          </p:nvPr>
        </p:nvSpPr>
        <p:spPr/>
        <p:txBody>
          <a:bodyPr/>
          <a:lstStyle/>
          <a:p>
            <a:r>
              <a:rPr lang="en-US" dirty="0">
                <a:solidFill>
                  <a:srgbClr val="343541"/>
                </a:solidFill>
                <a:latin typeface="Söhne"/>
              </a:rPr>
              <a:t>W</a:t>
            </a:r>
            <a:r>
              <a:rPr lang="en-US" b="0" i="0" dirty="0">
                <a:solidFill>
                  <a:srgbClr val="343541"/>
                </a:solidFill>
                <a:effectLst/>
                <a:latin typeface="Söhne"/>
              </a:rPr>
              <a:t>hat are the different cluster manager in spark</a:t>
            </a:r>
            <a:endParaRPr lang="en-IN" dirty="0"/>
          </a:p>
        </p:txBody>
      </p:sp>
      <p:sp>
        <p:nvSpPr>
          <p:cNvPr id="3" name="Content Placeholder 2">
            <a:extLst>
              <a:ext uri="{FF2B5EF4-FFF2-40B4-BE49-F238E27FC236}">
                <a16:creationId xmlns:a16="http://schemas.microsoft.com/office/drawing/2014/main" id="{6F86D38E-934A-374E-17E7-2A2BC1AD46DD}"/>
              </a:ext>
            </a:extLst>
          </p:cNvPr>
          <p:cNvSpPr>
            <a:spLocks noGrp="1"/>
          </p:cNvSpPr>
          <p:nvPr>
            <p:ph idx="1"/>
          </p:nvPr>
        </p:nvSpPr>
        <p:spPr/>
        <p:txBody>
          <a:bodyPr>
            <a:normAutofit fontScale="70000" lnSpcReduction="20000"/>
          </a:bodyPr>
          <a:lstStyle/>
          <a:p>
            <a:pPr algn="l"/>
            <a:r>
              <a:rPr lang="en-US" b="0" i="0" dirty="0">
                <a:solidFill>
                  <a:srgbClr val="374151"/>
                </a:solidFill>
                <a:effectLst/>
                <a:latin typeface="Söhne"/>
              </a:rPr>
              <a:t>Apache Spark supports several cluster managers, which are responsible for allocating resources (such as CPU, memory, and network bandwidth) to Spark applications running on a cluster. Here are some of the popular cluster managers used with Spark:</a:t>
            </a:r>
          </a:p>
          <a:p>
            <a:pPr algn="l">
              <a:buFont typeface="+mj-lt"/>
              <a:buAutoNum type="arabicPeriod"/>
            </a:pPr>
            <a:r>
              <a:rPr lang="en-US" b="0" i="0" dirty="0">
                <a:solidFill>
                  <a:srgbClr val="374151"/>
                </a:solidFill>
                <a:effectLst/>
                <a:latin typeface="Söhne"/>
              </a:rPr>
              <a:t>Apache Mesos: A general-purpose cluster manager that can run other distributed applications in addition to Spark. Mesos provides fine-grained resource allocation and isolation, and supports dynamic allocation of resources.</a:t>
            </a:r>
          </a:p>
          <a:p>
            <a:pPr algn="l">
              <a:buFont typeface="+mj-lt"/>
              <a:buAutoNum type="arabicPeriod"/>
            </a:pPr>
            <a:r>
              <a:rPr lang="en-US" b="0" i="0" dirty="0">
                <a:solidFill>
                  <a:srgbClr val="374151"/>
                </a:solidFill>
                <a:effectLst/>
                <a:latin typeface="Söhne"/>
              </a:rPr>
              <a:t>Hadoop YARN: The resource management layer in the Hadoop ecosystem. YARN can run various distributed applications, including Spark. YARN provides multi-tenancy, scalability, and fault tolerance.</a:t>
            </a:r>
          </a:p>
          <a:p>
            <a:pPr algn="l">
              <a:buFont typeface="+mj-lt"/>
              <a:buAutoNum type="arabicPeriod"/>
            </a:pPr>
            <a:r>
              <a:rPr lang="en-US" b="0" i="0" dirty="0">
                <a:solidFill>
                  <a:srgbClr val="374151"/>
                </a:solidFill>
                <a:effectLst/>
                <a:latin typeface="Söhne"/>
              </a:rPr>
              <a:t>Standalone: A simple cluster manager that comes with Spark. Standalone is easy to set up and use, but lacks some of the advanced features of other cluster managers.</a:t>
            </a:r>
          </a:p>
          <a:p>
            <a:pPr algn="l">
              <a:buFont typeface="+mj-lt"/>
              <a:buAutoNum type="arabicPeriod"/>
            </a:pPr>
            <a:r>
              <a:rPr lang="en-US" b="0" i="0" dirty="0">
                <a:solidFill>
                  <a:srgbClr val="374151"/>
                </a:solidFill>
                <a:effectLst/>
                <a:latin typeface="Söhne"/>
              </a:rPr>
              <a:t>Kubernetes: A container orchestration system that can manage Spark applications running in Docker containers. Kubernetes provides efficient resource utilization, portability, and scalability.</a:t>
            </a:r>
          </a:p>
          <a:p>
            <a:pPr algn="l"/>
            <a:r>
              <a:rPr lang="en-US" b="0" i="0" dirty="0">
                <a:solidFill>
                  <a:srgbClr val="374151"/>
                </a:solidFill>
                <a:effectLst/>
                <a:latin typeface="Söhne"/>
              </a:rPr>
              <a:t>Each of these cluster managers has its own advantages and disadvantages, and the choice of cluster manager depends on the specific requirements of the Spark application and the characteristics of the underlying cluster.</a:t>
            </a:r>
          </a:p>
          <a:p>
            <a:endParaRPr lang="en-IN" dirty="0"/>
          </a:p>
        </p:txBody>
      </p:sp>
    </p:spTree>
    <p:extLst>
      <p:ext uri="{BB962C8B-B14F-4D97-AF65-F5344CB8AC3E}">
        <p14:creationId xmlns:p14="http://schemas.microsoft.com/office/powerpoint/2010/main" val="1122888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46A76-845D-A054-75F2-656B8833C15B}"/>
              </a:ext>
            </a:extLst>
          </p:cNvPr>
          <p:cNvSpPr>
            <a:spLocks noGrp="1"/>
          </p:cNvSpPr>
          <p:nvPr>
            <p:ph type="title"/>
          </p:nvPr>
        </p:nvSpPr>
        <p:spPr/>
        <p:txBody>
          <a:bodyPr/>
          <a:lstStyle/>
          <a:p>
            <a:endParaRPr lang="en-IN"/>
          </a:p>
        </p:txBody>
      </p:sp>
      <p:sp>
        <p:nvSpPr>
          <p:cNvPr id="4" name="Rectangle 1">
            <a:extLst>
              <a:ext uri="{FF2B5EF4-FFF2-40B4-BE49-F238E27FC236}">
                <a16:creationId xmlns:a16="http://schemas.microsoft.com/office/drawing/2014/main" id="{828BB777-D397-EA75-3B07-9124F9D5B87C}"/>
              </a:ext>
            </a:extLst>
          </p:cNvPr>
          <p:cNvSpPr>
            <a:spLocks noGrp="1" noChangeArrowheads="1"/>
          </p:cNvSpPr>
          <p:nvPr>
            <p:ph idx="1"/>
          </p:nvPr>
        </p:nvSpPr>
        <p:spPr bwMode="auto">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98375" rIns="0" bIns="198375"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Söhne"/>
              </a:rPr>
              <a:t>The Standalone cluster manager is a simple and lightweight option that is included with Apache Spark. It is easy to set up and use, making it a good choice for development and testing environments. However, it may not be suitable for large-scale production deployments or complex resource management scenarios.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Söhne"/>
              </a:rPr>
              <a:t>Here are some of the features and characteristics of the Standalone cluster manager:</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rgbClr val="000000"/>
                </a:solidFill>
                <a:effectLst/>
                <a:latin typeface="Söhne"/>
              </a:rPr>
              <a:t>Resource allocation: The Standalone cluster manager allocates resources based on the static configuration of the cluster. You need to specify the number of worker nodes and the amount of CPU, memory, and other resources available on each node. Once the cluster is set up, resources are allocated to Spark applications based on the available resources and the resource requirements of the application.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rgbClr val="000000"/>
                </a:solidFill>
                <a:effectLst/>
                <a:latin typeface="Söhne"/>
              </a:rPr>
              <a:t>Fault tolerance: The Standalone cluster manager provides some level of fault tolerance by restarting failed application driver processes or worker nodes. However, it does not have advanced features such as automatic failover, so it may not be suitable for mission-critical applications.</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rgbClr val="000000"/>
                </a:solidFill>
                <a:effectLst/>
                <a:latin typeface="Söhne"/>
              </a:rPr>
              <a:t>Job scheduling: The Standalone cluster manager uses a simple FIFO (first-in, first-out) job scheduling policy by default. However, you can configure it to use more advanced scheduling policies such as fair scheduling or deadline-based scheduling.</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altLang="en-US" sz="1800" b="0" i="0" u="none" strike="noStrike" cap="none" normalizeH="0" baseline="0" dirty="0">
                <a:ln>
                  <a:noFill/>
                </a:ln>
                <a:solidFill>
                  <a:srgbClr val="000000"/>
                </a:solidFill>
                <a:effectLst/>
                <a:latin typeface="Söhne"/>
              </a:rPr>
              <a:t>Monitoring and management: The Standalone cluster manager provides basic monitoring and management capabilities, such as a web UI that displays cluster and application status. However, it does not have advanced features such as automatic scaling or dynamic resource allocation.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Söhne"/>
              </a:rPr>
              <a:t>In summary, the Standalone cluster manager is a simple and easy-to-use option for deploying Spark applications on a cluster. However, it may not be suitable for large-scale production deployments or complex resource management scenarios. Other cluster managers such as Apache Mesos or Hadoop YARN may provide more advanced features and capabilities.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14101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82CDE-D9D2-A1ED-45BE-53007220807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263994C-5331-B1BA-3D3F-D12A2D313CE4}"/>
              </a:ext>
            </a:extLst>
          </p:cNvPr>
          <p:cNvSpPr>
            <a:spLocks noGrp="1"/>
          </p:cNvSpPr>
          <p:nvPr>
            <p:ph idx="1"/>
          </p:nvPr>
        </p:nvSpPr>
        <p:spPr/>
        <p:txBody>
          <a:bodyPr/>
          <a:lstStyle/>
          <a:p>
            <a:endParaRPr lang="en-IN"/>
          </a:p>
        </p:txBody>
      </p:sp>
      <p:pic>
        <p:nvPicPr>
          <p:cNvPr id="4" name="Content Placeholder 4">
            <a:extLst>
              <a:ext uri="{FF2B5EF4-FFF2-40B4-BE49-F238E27FC236}">
                <a16:creationId xmlns:a16="http://schemas.microsoft.com/office/drawing/2014/main" id="{D2D5FE84-2FF1-11E7-1EC5-C636C2CCFF07}"/>
              </a:ext>
            </a:extLst>
          </p:cNvPr>
          <p:cNvPicPr>
            <a:picLocks noChangeAspect="1"/>
          </p:cNvPicPr>
          <p:nvPr/>
        </p:nvPicPr>
        <p:blipFill>
          <a:blip r:embed="rId2"/>
          <a:stretch>
            <a:fillRect/>
          </a:stretch>
        </p:blipFill>
        <p:spPr>
          <a:xfrm>
            <a:off x="745555" y="1146875"/>
            <a:ext cx="10700890" cy="5030088"/>
          </a:xfrm>
          <a:prstGeom prst="rect">
            <a:avLst/>
          </a:prstGeom>
        </p:spPr>
      </p:pic>
      <p:sp>
        <p:nvSpPr>
          <p:cNvPr id="6" name="TextBox 5">
            <a:extLst>
              <a:ext uri="{FF2B5EF4-FFF2-40B4-BE49-F238E27FC236}">
                <a16:creationId xmlns:a16="http://schemas.microsoft.com/office/drawing/2014/main" id="{FFA28EFD-B954-7A75-B81A-F75C24DD1C1A}"/>
              </a:ext>
            </a:extLst>
          </p:cNvPr>
          <p:cNvSpPr txBox="1"/>
          <p:nvPr/>
        </p:nvSpPr>
        <p:spPr>
          <a:xfrm>
            <a:off x="3048000" y="3244334"/>
            <a:ext cx="6096000" cy="369332"/>
          </a:xfrm>
          <a:prstGeom prst="rect">
            <a:avLst/>
          </a:prstGeom>
          <a:noFill/>
        </p:spPr>
        <p:txBody>
          <a:bodyPr wrap="square">
            <a:spAutoFit/>
          </a:bodyPr>
          <a:lstStyle/>
          <a:p>
            <a:r>
              <a:rPr lang="en-US" b="0" i="0" dirty="0">
                <a:solidFill>
                  <a:srgbClr val="343541"/>
                </a:solidFill>
                <a:effectLst/>
                <a:latin typeface="Söhne"/>
              </a:rPr>
              <a:t>what are the different cluster manager in spark</a:t>
            </a:r>
            <a:endParaRPr lang="en-IN" dirty="0"/>
          </a:p>
        </p:txBody>
      </p:sp>
    </p:spTree>
    <p:extLst>
      <p:ext uri="{BB962C8B-B14F-4D97-AF65-F5344CB8AC3E}">
        <p14:creationId xmlns:p14="http://schemas.microsoft.com/office/powerpoint/2010/main" val="20745428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C0811-B876-36A0-3CE5-FD60C0A36F8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4EF2ED0-FF55-D6D3-B311-56BDCEA1B782}"/>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45B6572A-6516-01F5-0B80-6E066C412A68}"/>
              </a:ext>
            </a:extLst>
          </p:cNvPr>
          <p:cNvPicPr>
            <a:picLocks noChangeAspect="1"/>
          </p:cNvPicPr>
          <p:nvPr/>
        </p:nvPicPr>
        <p:blipFill>
          <a:blip r:embed="rId2"/>
          <a:stretch>
            <a:fillRect/>
          </a:stretch>
        </p:blipFill>
        <p:spPr>
          <a:xfrm>
            <a:off x="1066800" y="1966912"/>
            <a:ext cx="10058400" cy="2924175"/>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945E6B13-2C4E-4D8A-334E-A01BD83C8B65}"/>
                  </a:ext>
                </a:extLst>
              </p14:cNvPr>
              <p14:cNvContentPartPr/>
              <p14:nvPr/>
            </p14:nvContentPartPr>
            <p14:xfrm>
              <a:off x="2781360" y="1104840"/>
              <a:ext cx="7810920" cy="4223160"/>
            </p14:xfrm>
          </p:contentPart>
        </mc:Choice>
        <mc:Fallback xmlns="">
          <p:pic>
            <p:nvPicPr>
              <p:cNvPr id="6" name="Ink 5">
                <a:extLst>
                  <a:ext uri="{FF2B5EF4-FFF2-40B4-BE49-F238E27FC236}">
                    <a16:creationId xmlns:a16="http://schemas.microsoft.com/office/drawing/2014/main" id="{945E6B13-2C4E-4D8A-334E-A01BD83C8B65}"/>
                  </a:ext>
                </a:extLst>
              </p:cNvPr>
              <p:cNvPicPr/>
              <p:nvPr/>
            </p:nvPicPr>
            <p:blipFill>
              <a:blip r:embed="rId4"/>
              <a:stretch>
                <a:fillRect/>
              </a:stretch>
            </p:blipFill>
            <p:spPr>
              <a:xfrm>
                <a:off x="2772000" y="1095480"/>
                <a:ext cx="7829640" cy="4241880"/>
              </a:xfrm>
              <a:prstGeom prst="rect">
                <a:avLst/>
              </a:prstGeom>
            </p:spPr>
          </p:pic>
        </mc:Fallback>
      </mc:AlternateContent>
    </p:spTree>
    <p:extLst>
      <p:ext uri="{BB962C8B-B14F-4D97-AF65-F5344CB8AC3E}">
        <p14:creationId xmlns:p14="http://schemas.microsoft.com/office/powerpoint/2010/main" val="36194752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F740B-8280-9E33-3D61-17E5E0FA9E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5E0C79C-DA89-D312-2E01-E2A5378CDC6B}"/>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AE77CCA6-DD9D-E43C-64DD-9DCC74DF7C7C}"/>
              </a:ext>
            </a:extLst>
          </p:cNvPr>
          <p:cNvPicPr>
            <a:picLocks noChangeAspect="1"/>
          </p:cNvPicPr>
          <p:nvPr/>
        </p:nvPicPr>
        <p:blipFill>
          <a:blip r:embed="rId2"/>
          <a:stretch>
            <a:fillRect/>
          </a:stretch>
        </p:blipFill>
        <p:spPr>
          <a:xfrm>
            <a:off x="1038225" y="2353469"/>
            <a:ext cx="9277350" cy="3295650"/>
          </a:xfrm>
          <a:prstGeom prst="rect">
            <a:avLst/>
          </a:prstGeom>
        </p:spPr>
      </p:pic>
      <mc:AlternateContent xmlns:mc="http://schemas.openxmlformats.org/markup-compatibility/2006" xmlns:p14="http://schemas.microsoft.com/office/powerpoint/2010/main">
        <mc:Choice Requires="p14">
          <p:contentPart p14:bwMode="auto" r:id="rId3">
            <p14:nvContentPartPr>
              <p14:cNvPr id="6" name="Ink 5">
                <a:extLst>
                  <a:ext uri="{FF2B5EF4-FFF2-40B4-BE49-F238E27FC236}">
                    <a16:creationId xmlns:a16="http://schemas.microsoft.com/office/drawing/2014/main" id="{233BA7B2-0D92-BF6A-BA71-1DE123A4C173}"/>
                  </a:ext>
                </a:extLst>
              </p14:cNvPr>
              <p14:cNvContentPartPr/>
              <p14:nvPr/>
            </p14:nvContentPartPr>
            <p14:xfrm>
              <a:off x="1758960" y="2368440"/>
              <a:ext cx="7226640" cy="3537360"/>
            </p14:xfrm>
          </p:contentPart>
        </mc:Choice>
        <mc:Fallback xmlns="">
          <p:pic>
            <p:nvPicPr>
              <p:cNvPr id="6" name="Ink 5">
                <a:extLst>
                  <a:ext uri="{FF2B5EF4-FFF2-40B4-BE49-F238E27FC236}">
                    <a16:creationId xmlns:a16="http://schemas.microsoft.com/office/drawing/2014/main" id="{233BA7B2-0D92-BF6A-BA71-1DE123A4C173}"/>
                  </a:ext>
                </a:extLst>
              </p:cNvPr>
              <p:cNvPicPr/>
              <p:nvPr/>
            </p:nvPicPr>
            <p:blipFill>
              <a:blip r:embed="rId4"/>
              <a:stretch>
                <a:fillRect/>
              </a:stretch>
            </p:blipFill>
            <p:spPr>
              <a:xfrm>
                <a:off x="1749600" y="2359080"/>
                <a:ext cx="7245360" cy="3556080"/>
              </a:xfrm>
              <a:prstGeom prst="rect">
                <a:avLst/>
              </a:prstGeom>
            </p:spPr>
          </p:pic>
        </mc:Fallback>
      </mc:AlternateContent>
    </p:spTree>
    <p:extLst>
      <p:ext uri="{BB962C8B-B14F-4D97-AF65-F5344CB8AC3E}">
        <p14:creationId xmlns:p14="http://schemas.microsoft.com/office/powerpoint/2010/main" val="4045942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F71D6-CDED-A3B8-D4C7-CCE1024D3D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051BFA2-5C7F-9B2C-E80D-80E2D89B6143}"/>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2A385043-36BE-9768-073B-421239BD8597}"/>
              </a:ext>
            </a:extLst>
          </p:cNvPr>
          <p:cNvPicPr>
            <a:picLocks noChangeAspect="1"/>
          </p:cNvPicPr>
          <p:nvPr/>
        </p:nvPicPr>
        <p:blipFill>
          <a:blip r:embed="rId2"/>
          <a:stretch>
            <a:fillRect/>
          </a:stretch>
        </p:blipFill>
        <p:spPr>
          <a:xfrm>
            <a:off x="1917305" y="0"/>
            <a:ext cx="8357389" cy="6686550"/>
          </a:xfrm>
          <a:prstGeom prst="rect">
            <a:avLst/>
          </a:prstGeom>
        </p:spPr>
      </p:pic>
    </p:spTree>
    <p:extLst>
      <p:ext uri="{BB962C8B-B14F-4D97-AF65-F5344CB8AC3E}">
        <p14:creationId xmlns:p14="http://schemas.microsoft.com/office/powerpoint/2010/main" val="42671021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FE028-1C7E-86AF-F69C-28AF2AC015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F52F2EF-1B4A-7731-560C-DEC15B6B30D4}"/>
              </a:ext>
            </a:extLst>
          </p:cNvPr>
          <p:cNvSpPr>
            <a:spLocks noGrp="1"/>
          </p:cNvSpPr>
          <p:nvPr>
            <p:ph idx="1"/>
          </p:nvPr>
        </p:nvSpPr>
        <p:spPr/>
        <p:txBody>
          <a:bodyPr/>
          <a:lstStyle/>
          <a:p>
            <a:endParaRPr lang="en-IN" dirty="0"/>
          </a:p>
        </p:txBody>
      </p:sp>
      <p:pic>
        <p:nvPicPr>
          <p:cNvPr id="7" name="Picture 6">
            <a:extLst>
              <a:ext uri="{FF2B5EF4-FFF2-40B4-BE49-F238E27FC236}">
                <a16:creationId xmlns:a16="http://schemas.microsoft.com/office/drawing/2014/main" id="{32258FDD-7EA0-A852-326A-F60CE330AA22}"/>
              </a:ext>
            </a:extLst>
          </p:cNvPr>
          <p:cNvPicPr>
            <a:picLocks noChangeAspect="1"/>
          </p:cNvPicPr>
          <p:nvPr/>
        </p:nvPicPr>
        <p:blipFill>
          <a:blip r:embed="rId2"/>
          <a:stretch>
            <a:fillRect/>
          </a:stretch>
        </p:blipFill>
        <p:spPr>
          <a:xfrm>
            <a:off x="838201" y="2286000"/>
            <a:ext cx="10515600" cy="2286000"/>
          </a:xfrm>
          <a:prstGeom prst="rect">
            <a:avLst/>
          </a:prstGeom>
        </p:spPr>
      </p:pic>
    </p:spTree>
    <p:extLst>
      <p:ext uri="{BB962C8B-B14F-4D97-AF65-F5344CB8AC3E}">
        <p14:creationId xmlns:p14="http://schemas.microsoft.com/office/powerpoint/2010/main" val="78223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70EEF-4035-D059-9A40-76413C82E4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00E82AD-4480-F4E0-2779-CD1007EBCDFF}"/>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3260A244-2384-A2F6-0169-AEA53AC4BEFB}"/>
              </a:ext>
            </a:extLst>
          </p:cNvPr>
          <p:cNvPicPr>
            <a:picLocks noChangeAspect="1"/>
          </p:cNvPicPr>
          <p:nvPr/>
        </p:nvPicPr>
        <p:blipFill>
          <a:blip r:embed="rId2"/>
          <a:stretch>
            <a:fillRect/>
          </a:stretch>
        </p:blipFill>
        <p:spPr>
          <a:xfrm>
            <a:off x="2747367" y="0"/>
            <a:ext cx="6697266" cy="6492875"/>
          </a:xfrm>
          <a:prstGeom prst="rect">
            <a:avLst/>
          </a:prstGeom>
        </p:spPr>
      </p:pic>
    </p:spTree>
    <p:extLst>
      <p:ext uri="{BB962C8B-B14F-4D97-AF65-F5344CB8AC3E}">
        <p14:creationId xmlns:p14="http://schemas.microsoft.com/office/powerpoint/2010/main" val="6214687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DF81EA-F2DC-DBB9-96D4-86771E013EA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337408E-3C79-01E9-4897-1059DA1E1003}"/>
              </a:ext>
            </a:extLst>
          </p:cNvPr>
          <p:cNvSpPr>
            <a:spLocks noGrp="1"/>
          </p:cNvSpPr>
          <p:nvPr>
            <p:ph idx="1"/>
          </p:nvPr>
        </p:nvSpPr>
        <p:spPr/>
        <p:txBody>
          <a:bodyPr>
            <a:normAutofit fontScale="92500" lnSpcReduction="10000"/>
          </a:bodyPr>
          <a:lstStyle/>
          <a:p>
            <a:pPr marL="0" indent="0">
              <a:buNone/>
            </a:pPr>
            <a:r>
              <a:rPr lang="en-US" b="0" i="0" dirty="0">
                <a:solidFill>
                  <a:srgbClr val="444444"/>
                </a:solidFill>
                <a:effectLst/>
                <a:latin typeface="Open Sans" panose="020B0606030504020204" pitchFamily="34" charset="0"/>
              </a:rPr>
              <a:t>if you don’t give Spark executor at least </a:t>
            </a:r>
            <a:r>
              <a:rPr lang="en-US" b="0" i="1" dirty="0">
                <a:solidFill>
                  <a:srgbClr val="993300"/>
                </a:solidFill>
                <a:effectLst/>
                <a:latin typeface="Open Sans" panose="020B0606030504020204" pitchFamily="34" charset="0"/>
              </a:rPr>
              <a:t>1.5 * Reserved Memory = 450MB</a:t>
            </a:r>
            <a:r>
              <a:rPr lang="en-US" b="0" i="0" dirty="0">
                <a:solidFill>
                  <a:srgbClr val="444444"/>
                </a:solidFill>
                <a:effectLst/>
                <a:latin typeface="Open Sans" panose="020B0606030504020204" pitchFamily="34" charset="0"/>
              </a:rPr>
              <a:t> heap, it will fail with “please use larger heap size” error message.</a:t>
            </a:r>
          </a:p>
          <a:p>
            <a:pPr marL="0" indent="0">
              <a:buNone/>
            </a:pPr>
            <a:endParaRPr lang="en-US" dirty="0">
              <a:solidFill>
                <a:srgbClr val="444444"/>
              </a:solidFill>
              <a:latin typeface="Open Sans" panose="020B0606030504020204" pitchFamily="34" charset="0"/>
            </a:endParaRPr>
          </a:p>
          <a:p>
            <a:pPr marL="0" indent="0">
              <a:buNone/>
            </a:pPr>
            <a:r>
              <a:rPr lang="en-IN" b="1" i="1" dirty="0">
                <a:solidFill>
                  <a:srgbClr val="0000FF"/>
                </a:solidFill>
                <a:effectLst/>
                <a:latin typeface="Open Sans" panose="020B0606030504020204" pitchFamily="34" charset="0"/>
              </a:rPr>
              <a:t>User Memory</a:t>
            </a:r>
            <a:r>
              <a:rPr lang="en-IN" b="0" i="0" dirty="0">
                <a:solidFill>
                  <a:srgbClr val="444444"/>
                </a:solidFill>
                <a:effectLst/>
                <a:latin typeface="Open Sans" panose="020B0606030504020204" pitchFamily="34" charset="0"/>
              </a:rPr>
              <a:t>.</a:t>
            </a:r>
            <a:r>
              <a:rPr lang="en-US" b="0" i="0" dirty="0">
                <a:solidFill>
                  <a:srgbClr val="444444"/>
                </a:solidFill>
                <a:effectLst/>
                <a:latin typeface="Open Sans" panose="020B0606030504020204" pitchFamily="34" charset="0"/>
              </a:rPr>
              <a:t>: </a:t>
            </a:r>
            <a:r>
              <a:rPr lang="en-US" b="0" i="0" dirty="0">
                <a:solidFill>
                  <a:srgbClr val="993300"/>
                </a:solidFill>
                <a:effectLst/>
                <a:latin typeface="Open Sans" panose="020B0606030504020204" pitchFamily="34" charset="0"/>
              </a:rPr>
              <a:t>(“</a:t>
            </a:r>
            <a:r>
              <a:rPr lang="en-US" b="0" i="1" dirty="0">
                <a:solidFill>
                  <a:srgbClr val="993300"/>
                </a:solidFill>
                <a:effectLst/>
                <a:latin typeface="Open Sans" panose="020B0606030504020204" pitchFamily="34" charset="0"/>
              </a:rPr>
              <a:t>Java Heap</a:t>
            </a:r>
            <a:r>
              <a:rPr lang="en-US" b="0" i="0" dirty="0">
                <a:solidFill>
                  <a:srgbClr val="993300"/>
                </a:solidFill>
                <a:effectLst/>
                <a:latin typeface="Open Sans" panose="020B0606030504020204" pitchFamily="34" charset="0"/>
              </a:rPr>
              <a:t>” – “</a:t>
            </a:r>
            <a:r>
              <a:rPr lang="en-US" b="0" i="1" dirty="0">
                <a:solidFill>
                  <a:srgbClr val="993300"/>
                </a:solidFill>
                <a:effectLst/>
                <a:latin typeface="Open Sans" panose="020B0606030504020204" pitchFamily="34" charset="0"/>
              </a:rPr>
              <a:t>Reserved Memory</a:t>
            </a:r>
            <a:r>
              <a:rPr lang="en-US" b="0" i="0" dirty="0">
                <a:solidFill>
                  <a:srgbClr val="993300"/>
                </a:solidFill>
                <a:effectLst/>
                <a:latin typeface="Open Sans" panose="020B0606030504020204" pitchFamily="34" charset="0"/>
              </a:rPr>
              <a:t>”) * (1.0 – </a:t>
            </a:r>
            <a:r>
              <a:rPr lang="en-US" b="0" i="1" dirty="0" err="1">
                <a:solidFill>
                  <a:srgbClr val="993300"/>
                </a:solidFill>
                <a:effectLst/>
                <a:latin typeface="Open Sans" panose="020B0606030504020204" pitchFamily="34" charset="0"/>
              </a:rPr>
              <a:t>spark.memory.fraction</a:t>
            </a:r>
            <a:r>
              <a:rPr lang="en-US" b="0" i="0" dirty="0">
                <a:solidFill>
                  <a:srgbClr val="993300"/>
                </a:solidFill>
                <a:effectLst/>
                <a:latin typeface="Open Sans" panose="020B0606030504020204" pitchFamily="34" charset="0"/>
              </a:rPr>
              <a:t>)</a:t>
            </a:r>
            <a:r>
              <a:rPr lang="en-US" b="0" i="0" dirty="0">
                <a:solidFill>
                  <a:srgbClr val="444444"/>
                </a:solidFill>
                <a:effectLst/>
                <a:latin typeface="Open Sans" panose="020B0606030504020204" pitchFamily="34" charset="0"/>
              </a:rPr>
              <a:t>, which is by default equal to </a:t>
            </a:r>
            <a:r>
              <a:rPr lang="en-US" b="0" i="0" dirty="0">
                <a:solidFill>
                  <a:srgbClr val="993300"/>
                </a:solidFill>
                <a:effectLst/>
                <a:latin typeface="Open Sans" panose="020B0606030504020204" pitchFamily="34" charset="0"/>
              </a:rPr>
              <a:t>(“</a:t>
            </a:r>
            <a:r>
              <a:rPr lang="en-US" b="0" i="1" dirty="0">
                <a:solidFill>
                  <a:srgbClr val="993300"/>
                </a:solidFill>
                <a:effectLst/>
                <a:latin typeface="Open Sans" panose="020B0606030504020204" pitchFamily="34" charset="0"/>
              </a:rPr>
              <a:t>Java Heap</a:t>
            </a:r>
            <a:r>
              <a:rPr lang="en-US" b="0" i="0" dirty="0">
                <a:solidFill>
                  <a:srgbClr val="993300"/>
                </a:solidFill>
                <a:effectLst/>
                <a:latin typeface="Open Sans" panose="020B0606030504020204" pitchFamily="34" charset="0"/>
              </a:rPr>
              <a:t>” – 300MB) * 0.25</a:t>
            </a:r>
            <a:r>
              <a:rPr lang="en-US" b="0" i="0" dirty="0">
                <a:solidFill>
                  <a:srgbClr val="444444"/>
                </a:solidFill>
                <a:effectLst/>
                <a:latin typeface="Open Sans" panose="020B0606030504020204" pitchFamily="34" charset="0"/>
              </a:rPr>
              <a:t>. For example, with 4GB heap you would have 949MB of </a:t>
            </a:r>
            <a:r>
              <a:rPr lang="en-US" b="0" i="1" dirty="0">
                <a:solidFill>
                  <a:srgbClr val="0000FF"/>
                </a:solidFill>
                <a:effectLst/>
                <a:latin typeface="Open Sans" panose="020B0606030504020204" pitchFamily="34" charset="0"/>
              </a:rPr>
              <a:t>User Memory</a:t>
            </a:r>
            <a:r>
              <a:rPr lang="en-US" b="0" i="0" dirty="0">
                <a:solidFill>
                  <a:srgbClr val="444444"/>
                </a:solidFill>
                <a:effectLst/>
                <a:latin typeface="Open Sans" panose="020B0606030504020204" pitchFamily="34" charset="0"/>
              </a:rPr>
              <a:t>. And again, this is the </a:t>
            </a:r>
            <a:r>
              <a:rPr lang="en-US" b="0" i="1" dirty="0">
                <a:solidFill>
                  <a:srgbClr val="0000FF"/>
                </a:solidFill>
                <a:effectLst/>
                <a:latin typeface="Open Sans" panose="020B0606030504020204" pitchFamily="34" charset="0"/>
              </a:rPr>
              <a:t>User Memory</a:t>
            </a:r>
            <a:r>
              <a:rPr lang="en-US" b="0" i="0" dirty="0">
                <a:solidFill>
                  <a:srgbClr val="444444"/>
                </a:solidFill>
                <a:effectLst/>
                <a:latin typeface="Open Sans" panose="020B0606030504020204" pitchFamily="34" charset="0"/>
              </a:rPr>
              <a:t> and its completely up to you what would be stored in this RAM and how, Spark makes completely no accounting on what you do there and whether you respect this boundary or not. Not respecting this boundary in your code might cause OOM error.</a:t>
            </a:r>
            <a:endParaRPr lang="en-IN" dirty="0"/>
          </a:p>
        </p:txBody>
      </p:sp>
    </p:spTree>
    <p:extLst>
      <p:ext uri="{BB962C8B-B14F-4D97-AF65-F5344CB8AC3E}">
        <p14:creationId xmlns:p14="http://schemas.microsoft.com/office/powerpoint/2010/main" val="776672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394EA2-1ED9-ED8D-91EE-FC4D4C3F7C0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D035F23-DB9D-C979-C668-38687A809076}"/>
              </a:ext>
            </a:extLst>
          </p:cNvPr>
          <p:cNvSpPr>
            <a:spLocks noGrp="1"/>
          </p:cNvSpPr>
          <p:nvPr>
            <p:ph idx="1"/>
          </p:nvPr>
        </p:nvSpPr>
        <p:spPr/>
        <p:txBody>
          <a:bodyPr/>
          <a:lstStyle/>
          <a:p>
            <a:pPr marL="0" indent="0">
              <a:buNone/>
            </a:pPr>
            <a:r>
              <a:rPr lang="en-IN" b="1" i="1" dirty="0">
                <a:solidFill>
                  <a:srgbClr val="0000FF"/>
                </a:solidFill>
                <a:effectLst/>
                <a:latin typeface="Open Sans" panose="020B0606030504020204" pitchFamily="34" charset="0"/>
              </a:rPr>
              <a:t>Spark Memory</a:t>
            </a:r>
            <a:r>
              <a:rPr lang="en-IN" b="0" i="0" dirty="0">
                <a:solidFill>
                  <a:srgbClr val="444444"/>
                </a:solidFill>
                <a:effectLst/>
                <a:latin typeface="Open Sans" panose="020B0606030504020204" pitchFamily="34" charset="0"/>
              </a:rPr>
              <a:t> : </a:t>
            </a:r>
            <a:r>
              <a:rPr lang="en-US" b="0" i="0" dirty="0">
                <a:solidFill>
                  <a:srgbClr val="444444"/>
                </a:solidFill>
                <a:effectLst/>
                <a:latin typeface="Open Sans" panose="020B0606030504020204" pitchFamily="34" charset="0"/>
              </a:rPr>
              <a:t>Finally, this is the memory pool managed by Apache Spark. Its size can be calculated as </a:t>
            </a:r>
            <a:r>
              <a:rPr lang="en-US" b="0" i="0" dirty="0">
                <a:solidFill>
                  <a:srgbClr val="993300"/>
                </a:solidFill>
                <a:effectLst/>
                <a:latin typeface="Open Sans" panose="020B0606030504020204" pitchFamily="34" charset="0"/>
              </a:rPr>
              <a:t>(“</a:t>
            </a:r>
            <a:r>
              <a:rPr lang="en-US" b="0" i="1" dirty="0">
                <a:solidFill>
                  <a:srgbClr val="993300"/>
                </a:solidFill>
                <a:effectLst/>
                <a:latin typeface="Open Sans" panose="020B0606030504020204" pitchFamily="34" charset="0"/>
              </a:rPr>
              <a:t>Java Heap</a:t>
            </a:r>
            <a:r>
              <a:rPr lang="en-US" b="0" i="0" dirty="0">
                <a:solidFill>
                  <a:srgbClr val="993300"/>
                </a:solidFill>
                <a:effectLst/>
                <a:latin typeface="Open Sans" panose="020B0606030504020204" pitchFamily="34" charset="0"/>
              </a:rPr>
              <a:t>” – “</a:t>
            </a:r>
            <a:r>
              <a:rPr lang="en-US" b="0" i="1" dirty="0">
                <a:solidFill>
                  <a:srgbClr val="993300"/>
                </a:solidFill>
                <a:effectLst/>
                <a:latin typeface="Open Sans" panose="020B0606030504020204" pitchFamily="34" charset="0"/>
              </a:rPr>
              <a:t>Reserved Memory</a:t>
            </a:r>
            <a:r>
              <a:rPr lang="en-US" b="0" i="0" dirty="0">
                <a:solidFill>
                  <a:srgbClr val="993300"/>
                </a:solidFill>
                <a:effectLst/>
                <a:latin typeface="Open Sans" panose="020B0606030504020204" pitchFamily="34" charset="0"/>
              </a:rPr>
              <a:t>”) * </a:t>
            </a:r>
            <a:r>
              <a:rPr lang="en-US" b="0" i="1" dirty="0" err="1">
                <a:solidFill>
                  <a:srgbClr val="993300"/>
                </a:solidFill>
                <a:effectLst/>
                <a:latin typeface="Open Sans" panose="020B0606030504020204" pitchFamily="34" charset="0"/>
              </a:rPr>
              <a:t>spark.memory.fraction</a:t>
            </a:r>
            <a:r>
              <a:rPr lang="en-US" b="0" i="0" dirty="0">
                <a:solidFill>
                  <a:srgbClr val="444444"/>
                </a:solidFill>
                <a:effectLst/>
                <a:latin typeface="Open Sans" panose="020B0606030504020204" pitchFamily="34" charset="0"/>
              </a:rPr>
              <a:t>, and with Spark 1.6.0 defaults it gives us </a:t>
            </a:r>
            <a:r>
              <a:rPr lang="en-US" b="0" i="0" dirty="0">
                <a:solidFill>
                  <a:srgbClr val="993300"/>
                </a:solidFill>
                <a:effectLst/>
                <a:latin typeface="Open Sans" panose="020B0606030504020204" pitchFamily="34" charset="0"/>
              </a:rPr>
              <a:t>(“</a:t>
            </a:r>
            <a:r>
              <a:rPr lang="en-US" b="0" i="1" dirty="0">
                <a:solidFill>
                  <a:srgbClr val="993300"/>
                </a:solidFill>
                <a:effectLst/>
                <a:latin typeface="Open Sans" panose="020B0606030504020204" pitchFamily="34" charset="0"/>
              </a:rPr>
              <a:t>Java Heap</a:t>
            </a:r>
            <a:r>
              <a:rPr lang="en-US" b="0" i="0" dirty="0">
                <a:solidFill>
                  <a:srgbClr val="993300"/>
                </a:solidFill>
                <a:effectLst/>
                <a:latin typeface="Open Sans" panose="020B0606030504020204" pitchFamily="34" charset="0"/>
              </a:rPr>
              <a:t>” – 300MB) * 0.75</a:t>
            </a:r>
            <a:r>
              <a:rPr lang="en-US" b="0" i="0" dirty="0">
                <a:solidFill>
                  <a:srgbClr val="444444"/>
                </a:solidFill>
                <a:effectLst/>
                <a:latin typeface="Open Sans" panose="020B0606030504020204" pitchFamily="34" charset="0"/>
              </a:rPr>
              <a:t>. For example, with 4GB heap this pool would be 2847MB in size. </a:t>
            </a:r>
            <a:endParaRPr lang="en-IN" dirty="0"/>
          </a:p>
        </p:txBody>
      </p:sp>
    </p:spTree>
    <p:extLst>
      <p:ext uri="{BB962C8B-B14F-4D97-AF65-F5344CB8AC3E}">
        <p14:creationId xmlns:p14="http://schemas.microsoft.com/office/powerpoint/2010/main" val="932209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89EBE-28BC-6B81-DEE3-F92DC14CB94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A792394-565C-8A27-454E-5F8A43F0F0FC}"/>
              </a:ext>
            </a:extLst>
          </p:cNvPr>
          <p:cNvSpPr>
            <a:spLocks noGrp="1"/>
          </p:cNvSpPr>
          <p:nvPr>
            <p:ph idx="1"/>
          </p:nvPr>
        </p:nvSpPr>
        <p:spPr/>
        <p:txBody>
          <a:bodyPr/>
          <a:lstStyle/>
          <a:p>
            <a:r>
              <a:rPr lang="en-IN" b="0" i="0" dirty="0">
                <a:solidFill>
                  <a:srgbClr val="444444"/>
                </a:solidFill>
                <a:effectLst/>
                <a:latin typeface="Open Sans" panose="020B0606030504020204" pitchFamily="34" charset="0"/>
              </a:rPr>
              <a:t> </a:t>
            </a:r>
            <a:r>
              <a:rPr lang="en-IN" b="0" i="1" dirty="0" err="1">
                <a:solidFill>
                  <a:srgbClr val="993300"/>
                </a:solidFill>
                <a:effectLst/>
                <a:latin typeface="Open Sans" panose="020B0606030504020204" pitchFamily="34" charset="0"/>
              </a:rPr>
              <a:t>spark.memory.storageFraction</a:t>
            </a:r>
            <a:r>
              <a:rPr lang="en-IN" i="1" dirty="0">
                <a:solidFill>
                  <a:srgbClr val="993300"/>
                </a:solidFill>
                <a:latin typeface="Open Sans" panose="020B0606030504020204" pitchFamily="34" charset="0"/>
              </a:rPr>
              <a:t>: </a:t>
            </a:r>
            <a:r>
              <a:rPr lang="en-US" b="0" i="0" dirty="0">
                <a:solidFill>
                  <a:srgbClr val="444444"/>
                </a:solidFill>
                <a:effectLst/>
                <a:latin typeface="Open Sans" panose="020B0606030504020204" pitchFamily="34" charset="0"/>
              </a:rPr>
              <a:t>This whole pool is split into 2 regions – </a:t>
            </a:r>
            <a:r>
              <a:rPr lang="en-US" b="0" i="1" dirty="0">
                <a:solidFill>
                  <a:srgbClr val="0000FF"/>
                </a:solidFill>
                <a:effectLst/>
                <a:latin typeface="Open Sans" panose="020B0606030504020204" pitchFamily="34" charset="0"/>
              </a:rPr>
              <a:t>Storage Memory</a:t>
            </a:r>
            <a:r>
              <a:rPr lang="en-US" b="0" i="0" dirty="0">
                <a:solidFill>
                  <a:srgbClr val="444444"/>
                </a:solidFill>
                <a:effectLst/>
                <a:latin typeface="Open Sans" panose="020B0606030504020204" pitchFamily="34" charset="0"/>
              </a:rPr>
              <a:t> and </a:t>
            </a:r>
            <a:r>
              <a:rPr lang="en-US" b="0" i="1" dirty="0">
                <a:solidFill>
                  <a:srgbClr val="0000FF"/>
                </a:solidFill>
                <a:effectLst/>
                <a:latin typeface="Open Sans" panose="020B0606030504020204" pitchFamily="34" charset="0"/>
              </a:rPr>
              <a:t>Execution Memory</a:t>
            </a:r>
            <a:r>
              <a:rPr lang="en-US" b="0" i="0" dirty="0">
                <a:solidFill>
                  <a:srgbClr val="444444"/>
                </a:solidFill>
                <a:effectLst/>
                <a:latin typeface="Open Sans" panose="020B0606030504020204" pitchFamily="34" charset="0"/>
              </a:rPr>
              <a:t>, and the boundary between them is set by </a:t>
            </a:r>
            <a:r>
              <a:rPr lang="en-US" b="0" i="1" dirty="0" err="1">
                <a:solidFill>
                  <a:srgbClr val="993300"/>
                </a:solidFill>
                <a:effectLst/>
                <a:latin typeface="Open Sans" panose="020B0606030504020204" pitchFamily="34" charset="0"/>
              </a:rPr>
              <a:t>spark.memory.storageFraction</a:t>
            </a:r>
            <a:r>
              <a:rPr lang="en-US" b="0" i="0" dirty="0">
                <a:solidFill>
                  <a:srgbClr val="993300"/>
                </a:solidFill>
                <a:effectLst/>
                <a:latin typeface="Open Sans" panose="020B0606030504020204" pitchFamily="34" charset="0"/>
              </a:rPr>
              <a:t> </a:t>
            </a:r>
            <a:r>
              <a:rPr lang="en-US" b="0" i="0" dirty="0">
                <a:solidFill>
                  <a:srgbClr val="444444"/>
                </a:solidFill>
                <a:effectLst/>
                <a:latin typeface="Open Sans" panose="020B0606030504020204" pitchFamily="34" charset="0"/>
              </a:rPr>
              <a:t>parameter, which defaults to 0.5. The advantage of this new memory management scheme is that this boundary is not static, and in case of memory pressure the boundary would be moved, i.e. one region would grow by borrowing space from another one. I</a:t>
            </a:r>
            <a:endParaRPr lang="en-IN" dirty="0"/>
          </a:p>
        </p:txBody>
      </p:sp>
    </p:spTree>
    <p:extLst>
      <p:ext uri="{BB962C8B-B14F-4D97-AF65-F5344CB8AC3E}">
        <p14:creationId xmlns:p14="http://schemas.microsoft.com/office/powerpoint/2010/main" val="2696275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28192-FBBA-10F4-9BE5-B13A9475211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427FE41-FCDF-AA8D-02CB-6EFEAF5550FF}"/>
              </a:ext>
            </a:extLst>
          </p:cNvPr>
          <p:cNvSpPr>
            <a:spLocks noGrp="1"/>
          </p:cNvSpPr>
          <p:nvPr>
            <p:ph idx="1"/>
          </p:nvPr>
        </p:nvSpPr>
        <p:spPr/>
        <p:txBody>
          <a:bodyPr>
            <a:normAutofit fontScale="92500"/>
          </a:bodyPr>
          <a:lstStyle/>
          <a:p>
            <a:r>
              <a:rPr lang="en-US" b="1" i="1" dirty="0">
                <a:solidFill>
                  <a:srgbClr val="0000FF"/>
                </a:solidFill>
                <a:effectLst/>
                <a:latin typeface="Open Sans" panose="020B0606030504020204" pitchFamily="34" charset="0"/>
              </a:rPr>
              <a:t>Storage Memory</a:t>
            </a:r>
            <a:r>
              <a:rPr lang="en-US" b="0" i="0" dirty="0">
                <a:solidFill>
                  <a:srgbClr val="444444"/>
                </a:solidFill>
                <a:effectLst/>
                <a:latin typeface="Open Sans" panose="020B0606030504020204" pitchFamily="34" charset="0"/>
              </a:rPr>
              <a:t>. This pool is used for both storing Apache Spark cached data and for temporary space serialized data. Also all the “broadcast” variables are stored there as cached blocks.</a:t>
            </a:r>
          </a:p>
          <a:p>
            <a:endParaRPr lang="en-US" dirty="0">
              <a:solidFill>
                <a:srgbClr val="444444"/>
              </a:solidFill>
              <a:latin typeface="Open Sans" panose="020B0606030504020204" pitchFamily="34" charset="0"/>
            </a:endParaRPr>
          </a:p>
          <a:p>
            <a:r>
              <a:rPr lang="en-US" b="1" i="1" dirty="0">
                <a:solidFill>
                  <a:srgbClr val="0000FF"/>
                </a:solidFill>
                <a:effectLst/>
                <a:latin typeface="Open Sans" panose="020B0606030504020204" pitchFamily="34" charset="0"/>
              </a:rPr>
              <a:t>Execution Memory</a:t>
            </a:r>
            <a:r>
              <a:rPr lang="en-US" b="0" i="0" dirty="0">
                <a:solidFill>
                  <a:srgbClr val="444444"/>
                </a:solidFill>
                <a:effectLst/>
                <a:latin typeface="Open Sans" panose="020B0606030504020204" pitchFamily="34" charset="0"/>
              </a:rPr>
              <a:t>. This pool is used for storing the objects required during the execution of Spark tasks. For example, it is used to store </a:t>
            </a:r>
            <a:r>
              <a:rPr lang="en-US" b="0" i="0" dirty="0">
                <a:solidFill>
                  <a:srgbClr val="21759B"/>
                </a:solidFill>
                <a:effectLst/>
                <a:latin typeface="Open Sans" panose="020B0606030504020204" pitchFamily="34" charset="0"/>
              </a:rPr>
              <a:t>shuffle intermediate buffer on the Map side</a:t>
            </a:r>
            <a:r>
              <a:rPr lang="en-US" b="0" i="0" dirty="0">
                <a:solidFill>
                  <a:srgbClr val="444444"/>
                </a:solidFill>
                <a:effectLst/>
                <a:latin typeface="Open Sans" panose="020B0606030504020204" pitchFamily="34" charset="0"/>
              </a:rPr>
              <a:t> in memory, also it is used to store hash table for hash aggregation step. This pool also supports spilling on disk if not enough memory is available, but the blocks from this pool cannot be forcefully evicted by other threads (tasks).</a:t>
            </a:r>
          </a:p>
          <a:p>
            <a:endParaRPr lang="en-IN" dirty="0"/>
          </a:p>
        </p:txBody>
      </p:sp>
    </p:spTree>
    <p:extLst>
      <p:ext uri="{BB962C8B-B14F-4D97-AF65-F5344CB8AC3E}">
        <p14:creationId xmlns:p14="http://schemas.microsoft.com/office/powerpoint/2010/main" val="1110559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08BFEE-0C89-BCC5-C8B0-1A1819FB9B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80FA726-CC48-BFF0-C805-1C3E35A0C532}"/>
              </a:ext>
            </a:extLst>
          </p:cNvPr>
          <p:cNvSpPr>
            <a:spLocks noGrp="1"/>
          </p:cNvSpPr>
          <p:nvPr>
            <p:ph idx="1"/>
          </p:nvPr>
        </p:nvSpPr>
        <p:spPr/>
        <p:txBody>
          <a:bodyPr/>
          <a:lstStyle/>
          <a:p>
            <a:r>
              <a:rPr lang="en-US" dirty="0">
                <a:hlinkClick r:id="rId2"/>
              </a:rPr>
              <a:t>Spark Memory Management | Distributed Systems Architecture (0x0fff.com)</a:t>
            </a:r>
            <a:endParaRPr lang="en-IN" dirty="0"/>
          </a:p>
        </p:txBody>
      </p:sp>
    </p:spTree>
    <p:extLst>
      <p:ext uri="{BB962C8B-B14F-4D97-AF65-F5344CB8AC3E}">
        <p14:creationId xmlns:p14="http://schemas.microsoft.com/office/powerpoint/2010/main" val="36487088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F602D4-5C06-EABB-A0F5-EFE2E3D3BBF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32FA8B9-F0B2-E5C1-7B47-0900A2413FD4}"/>
              </a:ext>
            </a:extLst>
          </p:cNvPr>
          <p:cNvSpPr>
            <a:spLocks noGrp="1"/>
          </p:cNvSpPr>
          <p:nvPr>
            <p:ph idx="1"/>
          </p:nvPr>
        </p:nvSpPr>
        <p:spPr/>
        <p:txBody>
          <a:bodyPr/>
          <a:lstStyle/>
          <a:p>
            <a:pPr marL="0" indent="0" algn="l" fontAlgn="base">
              <a:buNone/>
            </a:pPr>
            <a:r>
              <a:rPr lang="en-US" b="1" i="0" dirty="0">
                <a:solidFill>
                  <a:srgbClr val="1E73BE"/>
                </a:solidFill>
                <a:effectLst/>
                <a:latin typeface="Open Sans" panose="020B0606030504020204" pitchFamily="34" charset="0"/>
              </a:rPr>
              <a:t>Adaptive Query Execution Features</a:t>
            </a:r>
          </a:p>
          <a:p>
            <a:pPr algn="l" fontAlgn="base">
              <a:buFont typeface="Arial" panose="020B0604020202020204" pitchFamily="34" charset="0"/>
              <a:buChar char="•"/>
            </a:pPr>
            <a:r>
              <a:rPr lang="en-US" b="0" i="0" dirty="0">
                <a:solidFill>
                  <a:srgbClr val="000000"/>
                </a:solidFill>
                <a:effectLst/>
                <a:latin typeface="inherit"/>
              </a:rPr>
              <a:t>Reducing Post-shuffle Partitions. (</a:t>
            </a:r>
            <a:r>
              <a:rPr lang="en-US" b="0" i="0" dirty="0" err="1">
                <a:solidFill>
                  <a:srgbClr val="000000"/>
                </a:solidFill>
                <a:effectLst/>
                <a:latin typeface="inherit"/>
              </a:rPr>
              <a:t>Dynamially</a:t>
            </a:r>
            <a:r>
              <a:rPr lang="en-US" b="0" i="0" dirty="0">
                <a:solidFill>
                  <a:srgbClr val="000000"/>
                </a:solidFill>
                <a:effectLst/>
                <a:latin typeface="inherit"/>
              </a:rPr>
              <a:t> coalesce partition)</a:t>
            </a:r>
          </a:p>
          <a:p>
            <a:pPr algn="l" fontAlgn="base">
              <a:buFont typeface="Arial" panose="020B0604020202020204" pitchFamily="34" charset="0"/>
              <a:buChar char="•"/>
            </a:pPr>
            <a:r>
              <a:rPr lang="en-US" b="0" i="0" dirty="0">
                <a:solidFill>
                  <a:srgbClr val="000000"/>
                </a:solidFill>
                <a:effectLst/>
                <a:latin typeface="inherit"/>
              </a:rPr>
              <a:t>Switching Join Strategies to broadcast Join (Dynamically check size)</a:t>
            </a:r>
          </a:p>
          <a:p>
            <a:pPr algn="l" fontAlgn="base">
              <a:buFont typeface="Arial" panose="020B0604020202020204" pitchFamily="34" charset="0"/>
              <a:buChar char="•"/>
            </a:pPr>
            <a:r>
              <a:rPr lang="en-US" b="0" i="0" dirty="0">
                <a:solidFill>
                  <a:srgbClr val="000000"/>
                </a:solidFill>
                <a:effectLst/>
                <a:latin typeface="inherit"/>
              </a:rPr>
              <a:t>Optimizing Skew Join ( By splitting the skewed one based some threshold like size&gt;256 MB and 5* times the average size)</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0DB56CD-B81A-990A-1731-B3D5DB212072}"/>
                  </a:ext>
                </a:extLst>
              </p14:cNvPr>
              <p14:cNvContentPartPr/>
              <p14:nvPr/>
            </p14:nvContentPartPr>
            <p14:xfrm>
              <a:off x="615960" y="2470320"/>
              <a:ext cx="146520" cy="1467000"/>
            </p14:xfrm>
          </p:contentPart>
        </mc:Choice>
        <mc:Fallback xmlns="">
          <p:pic>
            <p:nvPicPr>
              <p:cNvPr id="4" name="Ink 3">
                <a:extLst>
                  <a:ext uri="{FF2B5EF4-FFF2-40B4-BE49-F238E27FC236}">
                    <a16:creationId xmlns:a16="http://schemas.microsoft.com/office/drawing/2014/main" id="{20DB56CD-B81A-990A-1731-B3D5DB212072}"/>
                  </a:ext>
                </a:extLst>
              </p:cNvPr>
              <p:cNvPicPr/>
              <p:nvPr/>
            </p:nvPicPr>
            <p:blipFill>
              <a:blip r:embed="rId3"/>
              <a:stretch>
                <a:fillRect/>
              </a:stretch>
            </p:blipFill>
            <p:spPr>
              <a:xfrm>
                <a:off x="606600" y="2460960"/>
                <a:ext cx="165240" cy="1485720"/>
              </a:xfrm>
              <a:prstGeom prst="rect">
                <a:avLst/>
              </a:prstGeom>
            </p:spPr>
          </p:pic>
        </mc:Fallback>
      </mc:AlternateContent>
    </p:spTree>
    <p:extLst>
      <p:ext uri="{BB962C8B-B14F-4D97-AF65-F5344CB8AC3E}">
        <p14:creationId xmlns:p14="http://schemas.microsoft.com/office/powerpoint/2010/main" val="12224056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C3933-BDB9-9AAE-DFE1-0994BF368CB0}"/>
              </a:ext>
            </a:extLst>
          </p:cNvPr>
          <p:cNvSpPr>
            <a:spLocks noGrp="1"/>
          </p:cNvSpPr>
          <p:nvPr>
            <p:ph type="title"/>
          </p:nvPr>
        </p:nvSpPr>
        <p:spPr/>
        <p:txBody>
          <a:bodyPr/>
          <a:lstStyle/>
          <a:p>
            <a:r>
              <a:rPr lang="en-US" dirty="0"/>
              <a:t>Spark Resource Allocation</a:t>
            </a:r>
            <a:endParaRPr lang="en-IN" dirty="0"/>
          </a:p>
        </p:txBody>
      </p:sp>
      <p:sp>
        <p:nvSpPr>
          <p:cNvPr id="3" name="Content Placeholder 2">
            <a:extLst>
              <a:ext uri="{FF2B5EF4-FFF2-40B4-BE49-F238E27FC236}">
                <a16:creationId xmlns:a16="http://schemas.microsoft.com/office/drawing/2014/main" id="{D7AFA1FA-A574-E3C9-4215-6CD4B2B443D1}"/>
              </a:ext>
            </a:extLst>
          </p:cNvPr>
          <p:cNvSpPr>
            <a:spLocks noGrp="1"/>
          </p:cNvSpPr>
          <p:nvPr>
            <p:ph idx="1"/>
          </p:nvPr>
        </p:nvSpPr>
        <p:spPr/>
        <p:txBody>
          <a:bodyPr/>
          <a:lstStyle/>
          <a:p>
            <a:r>
              <a:rPr lang="en-US" dirty="0"/>
              <a:t>Static Allocation</a:t>
            </a:r>
          </a:p>
          <a:p>
            <a:r>
              <a:rPr lang="en-US" dirty="0"/>
              <a:t>Dynamic Allocation (You can enable it explicitly)</a:t>
            </a:r>
            <a:endParaRPr lang="en-IN" dirty="0"/>
          </a:p>
        </p:txBody>
      </p:sp>
    </p:spTree>
    <p:extLst>
      <p:ext uri="{BB962C8B-B14F-4D97-AF65-F5344CB8AC3E}">
        <p14:creationId xmlns:p14="http://schemas.microsoft.com/office/powerpoint/2010/main" val="26630239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C3933-BDB9-9AAE-DFE1-0994BF368CB0}"/>
              </a:ext>
            </a:extLst>
          </p:cNvPr>
          <p:cNvSpPr>
            <a:spLocks noGrp="1"/>
          </p:cNvSpPr>
          <p:nvPr>
            <p:ph type="title"/>
          </p:nvPr>
        </p:nvSpPr>
        <p:spPr/>
        <p:txBody>
          <a:bodyPr/>
          <a:lstStyle/>
          <a:p>
            <a:r>
              <a:rPr lang="en-US" dirty="0"/>
              <a:t>Cluster Configuration</a:t>
            </a:r>
            <a:endParaRPr lang="en-IN" dirty="0"/>
          </a:p>
        </p:txBody>
      </p:sp>
      <p:sp>
        <p:nvSpPr>
          <p:cNvPr id="3" name="Content Placeholder 2">
            <a:extLst>
              <a:ext uri="{FF2B5EF4-FFF2-40B4-BE49-F238E27FC236}">
                <a16:creationId xmlns:a16="http://schemas.microsoft.com/office/drawing/2014/main" id="{D7AFA1FA-A574-E3C9-4215-6CD4B2B443D1}"/>
              </a:ext>
            </a:extLst>
          </p:cNvPr>
          <p:cNvSpPr>
            <a:spLocks noGrp="1"/>
          </p:cNvSpPr>
          <p:nvPr>
            <p:ph idx="1"/>
          </p:nvPr>
        </p:nvSpPr>
        <p:spPr/>
        <p:txBody>
          <a:bodyPr/>
          <a:lstStyle/>
          <a:p>
            <a:r>
              <a:rPr lang="en-US" dirty="0"/>
              <a:t>Size of data</a:t>
            </a:r>
          </a:p>
          <a:p>
            <a:r>
              <a:rPr lang="en-US"/>
              <a:t>Code Complexity </a:t>
            </a:r>
            <a:endParaRPr lang="en-US" dirty="0"/>
          </a:p>
          <a:p>
            <a:r>
              <a:rPr lang="en-US" dirty="0"/>
              <a:t>Time to finish</a:t>
            </a:r>
          </a:p>
          <a:p>
            <a:r>
              <a:rPr lang="en-US" dirty="0"/>
              <a:t>Data compression</a:t>
            </a:r>
          </a:p>
          <a:p>
            <a:r>
              <a:rPr lang="en-US" dirty="0"/>
              <a:t>Network Bandwidth</a:t>
            </a:r>
          </a:p>
          <a:p>
            <a:endParaRPr lang="en-IN" dirty="0"/>
          </a:p>
        </p:txBody>
      </p:sp>
      <p:pic>
        <p:nvPicPr>
          <p:cNvPr id="5" name="Picture 4">
            <a:extLst>
              <a:ext uri="{FF2B5EF4-FFF2-40B4-BE49-F238E27FC236}">
                <a16:creationId xmlns:a16="http://schemas.microsoft.com/office/drawing/2014/main" id="{82051DE8-3C91-FE18-F90F-54833C44050E}"/>
              </a:ext>
            </a:extLst>
          </p:cNvPr>
          <p:cNvPicPr>
            <a:picLocks noChangeAspect="1"/>
          </p:cNvPicPr>
          <p:nvPr/>
        </p:nvPicPr>
        <p:blipFill>
          <a:blip r:embed="rId2"/>
          <a:stretch>
            <a:fillRect/>
          </a:stretch>
        </p:blipFill>
        <p:spPr>
          <a:xfrm>
            <a:off x="3836504" y="1690688"/>
            <a:ext cx="8238917" cy="2466975"/>
          </a:xfrm>
          <a:prstGeom prst="rect">
            <a:avLst/>
          </a:prstGeom>
        </p:spPr>
      </p:pic>
    </p:spTree>
    <p:extLst>
      <p:ext uri="{BB962C8B-B14F-4D97-AF65-F5344CB8AC3E}">
        <p14:creationId xmlns:p14="http://schemas.microsoft.com/office/powerpoint/2010/main" val="26218933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D0A776-930A-472D-20F0-C1312AE9FE62}"/>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24FEE78A-D4C0-F806-921A-28F0F1B60653}"/>
              </a:ext>
            </a:extLst>
          </p:cNvPr>
          <p:cNvPicPr>
            <a:picLocks noGrp="1" noChangeAspect="1"/>
          </p:cNvPicPr>
          <p:nvPr>
            <p:ph idx="1"/>
          </p:nvPr>
        </p:nvPicPr>
        <p:blipFill>
          <a:blip r:embed="rId2"/>
          <a:stretch>
            <a:fillRect/>
          </a:stretch>
        </p:blipFill>
        <p:spPr>
          <a:xfrm>
            <a:off x="838200" y="952500"/>
            <a:ext cx="10688764" cy="5137151"/>
          </a:xfrm>
        </p:spPr>
      </p:pic>
    </p:spTree>
    <p:extLst>
      <p:ext uri="{BB962C8B-B14F-4D97-AF65-F5344CB8AC3E}">
        <p14:creationId xmlns:p14="http://schemas.microsoft.com/office/powerpoint/2010/main" val="293553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A7456-00AC-B3C7-2C11-910BBA41DDA7}"/>
              </a:ext>
            </a:extLst>
          </p:cNvPr>
          <p:cNvSpPr>
            <a:spLocks noGrp="1"/>
          </p:cNvSpPr>
          <p:nvPr>
            <p:ph type="title"/>
          </p:nvPr>
        </p:nvSpPr>
        <p:spPr/>
        <p:txBody>
          <a:bodyPr/>
          <a:lstStyle/>
          <a:p>
            <a:r>
              <a:rPr lang="en-US" b="1" i="0" dirty="0">
                <a:solidFill>
                  <a:srgbClr val="1B3139"/>
                </a:solidFill>
                <a:effectLst/>
                <a:latin typeface="DM Sans" panose="020B0604020202020204" pitchFamily="2" charset="0"/>
              </a:rPr>
              <a:t>What is a </a:t>
            </a:r>
            <a:r>
              <a:rPr lang="en-US" b="1" i="0" dirty="0" err="1">
                <a:solidFill>
                  <a:srgbClr val="1B3139"/>
                </a:solidFill>
                <a:effectLst/>
                <a:latin typeface="DM Sans" panose="020B0604020202020204" pitchFamily="2" charset="0"/>
              </a:rPr>
              <a:t>lakehouse</a:t>
            </a:r>
            <a:r>
              <a:rPr lang="en-US" b="1" i="0" dirty="0">
                <a:solidFill>
                  <a:srgbClr val="1B3139"/>
                </a:solidFill>
                <a:effectLst/>
                <a:latin typeface="DM Sans" panose="020B0604020202020204" pitchFamily="2" charset="0"/>
              </a:rPr>
              <a:t>?</a:t>
            </a:r>
            <a:br>
              <a:rPr lang="en-US" b="1" i="0" dirty="0">
                <a:solidFill>
                  <a:srgbClr val="1B3139"/>
                </a:solidFill>
                <a:effectLst/>
                <a:latin typeface="DM Sans" panose="020B0604020202020204" pitchFamily="2" charset="0"/>
              </a:rPr>
            </a:br>
            <a:endParaRPr lang="en-IN" dirty="0"/>
          </a:p>
        </p:txBody>
      </p:sp>
      <p:sp>
        <p:nvSpPr>
          <p:cNvPr id="3" name="Content Placeholder 2">
            <a:extLst>
              <a:ext uri="{FF2B5EF4-FFF2-40B4-BE49-F238E27FC236}">
                <a16:creationId xmlns:a16="http://schemas.microsoft.com/office/drawing/2014/main" id="{AB3FF8FD-C269-A22E-8DA1-CCEF5988BE67}"/>
              </a:ext>
            </a:extLst>
          </p:cNvPr>
          <p:cNvSpPr>
            <a:spLocks noGrp="1"/>
          </p:cNvSpPr>
          <p:nvPr>
            <p:ph idx="1"/>
          </p:nvPr>
        </p:nvSpPr>
        <p:spPr/>
        <p:txBody>
          <a:bodyPr>
            <a:normAutofit lnSpcReduction="10000"/>
          </a:bodyPr>
          <a:lstStyle/>
          <a:p>
            <a:pPr algn="l"/>
            <a:r>
              <a:rPr lang="en-US" b="1" i="0" dirty="0">
                <a:solidFill>
                  <a:srgbClr val="1B3139"/>
                </a:solidFill>
                <a:effectLst/>
                <a:latin typeface="DM Sans" panose="020B0604020202020204" pitchFamily="2" charset="0"/>
              </a:rPr>
              <a:t>What is a </a:t>
            </a:r>
            <a:r>
              <a:rPr lang="en-US" b="1" i="0" dirty="0" err="1">
                <a:solidFill>
                  <a:srgbClr val="1B3139"/>
                </a:solidFill>
                <a:effectLst/>
                <a:latin typeface="DM Sans" panose="020B0604020202020204" pitchFamily="2" charset="0"/>
              </a:rPr>
              <a:t>lakehouse</a:t>
            </a:r>
            <a:r>
              <a:rPr lang="en-US" b="1" i="0" dirty="0">
                <a:solidFill>
                  <a:srgbClr val="1B3139"/>
                </a:solidFill>
                <a:effectLst/>
                <a:latin typeface="DM Sans" panose="020B0604020202020204" pitchFamily="2" charset="0"/>
              </a:rPr>
              <a:t>?</a:t>
            </a:r>
          </a:p>
          <a:p>
            <a:pPr algn="l"/>
            <a:r>
              <a:rPr lang="en-US" b="0" i="0" dirty="0">
                <a:solidFill>
                  <a:srgbClr val="1B3139"/>
                </a:solidFill>
                <a:effectLst/>
                <a:latin typeface="DM Sans" panose="020B0604020202020204" pitchFamily="2" charset="0"/>
              </a:rPr>
              <a:t>New systems are beginning to emerge that address the limitations of data lakes. A </a:t>
            </a:r>
            <a:r>
              <a:rPr lang="en-US" b="0" i="0" dirty="0" err="1">
                <a:solidFill>
                  <a:srgbClr val="1B3139"/>
                </a:solidFill>
                <a:effectLst/>
                <a:latin typeface="DM Sans" panose="020B0604020202020204" pitchFamily="2" charset="0"/>
              </a:rPr>
              <a:t>lakehouse</a:t>
            </a:r>
            <a:r>
              <a:rPr lang="en-US" b="0" i="0" dirty="0">
                <a:solidFill>
                  <a:srgbClr val="1B3139"/>
                </a:solidFill>
                <a:effectLst/>
                <a:latin typeface="DM Sans" panose="020B0604020202020204" pitchFamily="2" charset="0"/>
              </a:rPr>
              <a:t> is a new, open architecture that combines the best elements of data lakes and data warehouses. </a:t>
            </a:r>
            <a:r>
              <a:rPr lang="en-US" b="0" i="0" dirty="0" err="1">
                <a:solidFill>
                  <a:srgbClr val="1B3139"/>
                </a:solidFill>
                <a:effectLst/>
                <a:latin typeface="DM Sans" panose="020B0604020202020204" pitchFamily="2" charset="0"/>
              </a:rPr>
              <a:t>Lakehouses</a:t>
            </a:r>
            <a:r>
              <a:rPr lang="en-US" b="0" i="0" dirty="0">
                <a:solidFill>
                  <a:srgbClr val="1B3139"/>
                </a:solidFill>
                <a:effectLst/>
                <a:latin typeface="DM Sans" panose="020B0604020202020204" pitchFamily="2" charset="0"/>
              </a:rPr>
              <a:t> are enabled by a new system design: implementing similar data structures and data management features to those in a data warehouse directly on top of low cost cloud storage in open formats. They are what you would get if you had to redesign data warehouses in the modern world, now that cheap and highly reliable storage (in the form of object stores) are available.</a:t>
            </a:r>
          </a:p>
          <a:p>
            <a:endParaRPr lang="en-IN" dirty="0"/>
          </a:p>
        </p:txBody>
      </p:sp>
    </p:spTree>
    <p:extLst>
      <p:ext uri="{BB962C8B-B14F-4D97-AF65-F5344CB8AC3E}">
        <p14:creationId xmlns:p14="http://schemas.microsoft.com/office/powerpoint/2010/main" val="1947571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D3B1E-DD09-3B55-A337-0BCF58519DAF}"/>
              </a:ext>
            </a:extLst>
          </p:cNvPr>
          <p:cNvSpPr>
            <a:spLocks noGrp="1"/>
          </p:cNvSpPr>
          <p:nvPr>
            <p:ph type="title"/>
          </p:nvPr>
        </p:nvSpPr>
        <p:spPr/>
        <p:txBody>
          <a:bodyPr>
            <a:normAutofit fontScale="90000"/>
          </a:bodyPr>
          <a:lstStyle/>
          <a:p>
            <a:r>
              <a:rPr lang="en-US" b="1" i="0" dirty="0">
                <a:solidFill>
                  <a:srgbClr val="1B3139"/>
                </a:solidFill>
                <a:effectLst/>
                <a:latin typeface="DM Sans" panose="020B0604020202020204" pitchFamily="2" charset="0"/>
              </a:rPr>
              <a:t>A </a:t>
            </a:r>
            <a:r>
              <a:rPr lang="en-US" b="1" i="0" dirty="0" err="1">
                <a:solidFill>
                  <a:srgbClr val="1B3139"/>
                </a:solidFill>
                <a:effectLst/>
                <a:latin typeface="DM Sans" panose="020B0604020202020204" pitchFamily="2" charset="0"/>
              </a:rPr>
              <a:t>lakehouse</a:t>
            </a:r>
            <a:r>
              <a:rPr lang="en-US" b="1" i="0" dirty="0">
                <a:solidFill>
                  <a:srgbClr val="1B3139"/>
                </a:solidFill>
                <a:effectLst/>
                <a:latin typeface="DM Sans" panose="020B0604020202020204" pitchFamily="2" charset="0"/>
              </a:rPr>
              <a:t> has the following key features:</a:t>
            </a:r>
            <a:br>
              <a:rPr lang="en-US" b="0" i="0" dirty="0">
                <a:solidFill>
                  <a:srgbClr val="1B3139"/>
                </a:solidFill>
                <a:effectLst/>
                <a:latin typeface="DM Sans" panose="020B0604020202020204" pitchFamily="2" charset="0"/>
              </a:rPr>
            </a:br>
            <a:endParaRPr lang="en-IN" dirty="0"/>
          </a:p>
        </p:txBody>
      </p:sp>
      <p:sp>
        <p:nvSpPr>
          <p:cNvPr id="3" name="Content Placeholder 2">
            <a:extLst>
              <a:ext uri="{FF2B5EF4-FFF2-40B4-BE49-F238E27FC236}">
                <a16:creationId xmlns:a16="http://schemas.microsoft.com/office/drawing/2014/main" id="{C447A35D-E6EA-2A94-9979-DB1CEA09A2B6}"/>
              </a:ext>
            </a:extLst>
          </p:cNvPr>
          <p:cNvSpPr>
            <a:spLocks noGrp="1"/>
          </p:cNvSpPr>
          <p:nvPr>
            <p:ph idx="1"/>
          </p:nvPr>
        </p:nvSpPr>
        <p:spPr/>
        <p:txBody>
          <a:bodyPr>
            <a:normAutofit fontScale="70000" lnSpcReduction="20000"/>
          </a:bodyPr>
          <a:lstStyle/>
          <a:p>
            <a:pPr algn="l">
              <a:buFont typeface="Arial" panose="020B0604020202020204" pitchFamily="34" charset="0"/>
              <a:buChar char="•"/>
            </a:pPr>
            <a:r>
              <a:rPr lang="en-US" b="1" i="0" dirty="0">
                <a:solidFill>
                  <a:srgbClr val="1B3139"/>
                </a:solidFill>
                <a:effectLst/>
                <a:latin typeface="DM Sans" panose="020B0604020202020204" pitchFamily="2" charset="0"/>
              </a:rPr>
              <a:t>Transaction support:</a:t>
            </a:r>
            <a:r>
              <a:rPr lang="en-US" b="0" i="0" dirty="0">
                <a:solidFill>
                  <a:srgbClr val="1B3139"/>
                </a:solidFill>
                <a:effectLst/>
                <a:latin typeface="DM Sans" panose="020B0604020202020204" pitchFamily="2" charset="0"/>
              </a:rPr>
              <a:t> In an enterprise </a:t>
            </a:r>
            <a:r>
              <a:rPr lang="en-US" b="0" i="0" dirty="0" err="1">
                <a:solidFill>
                  <a:srgbClr val="1B3139"/>
                </a:solidFill>
                <a:effectLst/>
                <a:latin typeface="DM Sans" panose="020B0604020202020204" pitchFamily="2" charset="0"/>
              </a:rPr>
              <a:t>lakehouse</a:t>
            </a:r>
            <a:r>
              <a:rPr lang="en-US" b="0" i="0" dirty="0">
                <a:solidFill>
                  <a:srgbClr val="1B3139"/>
                </a:solidFill>
                <a:effectLst/>
                <a:latin typeface="DM Sans" panose="020B0604020202020204" pitchFamily="2" charset="0"/>
              </a:rPr>
              <a:t> many data pipelines will often be reading and writing data concurrently. Support for ACID transactions ensures consistency as multiple parties concurrently read or write data, typically using SQL.</a:t>
            </a:r>
          </a:p>
          <a:p>
            <a:pPr algn="l">
              <a:buFont typeface="Arial" panose="020B0604020202020204" pitchFamily="34" charset="0"/>
              <a:buChar char="•"/>
            </a:pPr>
            <a:r>
              <a:rPr lang="en-US" b="1" i="0" dirty="0">
                <a:solidFill>
                  <a:srgbClr val="1B3139"/>
                </a:solidFill>
                <a:effectLst/>
                <a:latin typeface="DM Sans" panose="020B0604020202020204" pitchFamily="2" charset="0"/>
              </a:rPr>
              <a:t>Schema enforcement and governance:</a:t>
            </a:r>
            <a:r>
              <a:rPr lang="en-US" b="0" i="0" dirty="0">
                <a:solidFill>
                  <a:srgbClr val="1B3139"/>
                </a:solidFill>
                <a:effectLst/>
                <a:latin typeface="DM Sans" panose="020B0604020202020204" pitchFamily="2" charset="0"/>
              </a:rPr>
              <a:t> The Lakehouse should have a way to support schema enforcement and evolution, supporting DW schema architectures such as star/snowflake-schemas. The system should be able to </a:t>
            </a:r>
            <a:r>
              <a:rPr lang="en-US" b="0" i="0" dirty="0">
                <a:solidFill>
                  <a:srgbClr val="1B3139"/>
                </a:solidFill>
                <a:effectLst/>
                <a:latin typeface="DM Sans" panose="020B0604020202020204" pitchFamily="2" charset="0"/>
                <a:hlinkClick r:id="rId2"/>
              </a:rPr>
              <a:t>reason about data integrity</a:t>
            </a:r>
            <a:r>
              <a:rPr lang="en-US" b="0" i="0" dirty="0">
                <a:solidFill>
                  <a:srgbClr val="1B3139"/>
                </a:solidFill>
                <a:effectLst/>
                <a:latin typeface="DM Sans" panose="020B0604020202020204" pitchFamily="2" charset="0"/>
              </a:rPr>
              <a:t>, and it should have robust governance and auditing mechanisms.</a:t>
            </a:r>
          </a:p>
          <a:p>
            <a:pPr algn="l">
              <a:buFont typeface="Arial" panose="020B0604020202020204" pitchFamily="34" charset="0"/>
              <a:buChar char="•"/>
            </a:pPr>
            <a:r>
              <a:rPr lang="en-US" b="1" i="0" dirty="0">
                <a:solidFill>
                  <a:srgbClr val="1B3139"/>
                </a:solidFill>
                <a:effectLst/>
                <a:latin typeface="DM Sans" panose="020B0604020202020204" pitchFamily="2" charset="0"/>
              </a:rPr>
              <a:t>BI support:</a:t>
            </a:r>
            <a:r>
              <a:rPr lang="en-US" b="0" i="0" dirty="0">
                <a:solidFill>
                  <a:srgbClr val="1B3139"/>
                </a:solidFill>
                <a:effectLst/>
                <a:latin typeface="DM Sans" panose="020B0604020202020204" pitchFamily="2" charset="0"/>
              </a:rPr>
              <a:t> </a:t>
            </a:r>
            <a:r>
              <a:rPr lang="en-US" b="0" i="0" dirty="0" err="1">
                <a:solidFill>
                  <a:srgbClr val="1B3139"/>
                </a:solidFill>
                <a:effectLst/>
                <a:latin typeface="DM Sans" panose="020B0604020202020204" pitchFamily="2" charset="0"/>
              </a:rPr>
              <a:t>Lakehouses</a:t>
            </a:r>
            <a:r>
              <a:rPr lang="en-US" b="0" i="0" dirty="0">
                <a:solidFill>
                  <a:srgbClr val="1B3139"/>
                </a:solidFill>
                <a:effectLst/>
                <a:latin typeface="DM Sans" panose="020B0604020202020204" pitchFamily="2" charset="0"/>
              </a:rPr>
              <a:t> enable using BI tools directly on the source data. This reduces staleness and improves recency, reduces latency, and lowers the cost of having to operationalize two copies of the data in both a data lake and a warehouse.</a:t>
            </a:r>
          </a:p>
          <a:p>
            <a:pPr algn="l">
              <a:buFont typeface="Arial" panose="020B0604020202020204" pitchFamily="34" charset="0"/>
              <a:buChar char="•"/>
            </a:pPr>
            <a:r>
              <a:rPr lang="en-US" b="1" i="0" dirty="0">
                <a:solidFill>
                  <a:srgbClr val="1B3139"/>
                </a:solidFill>
                <a:effectLst/>
                <a:latin typeface="DM Sans" panose="020B0604020202020204" pitchFamily="2" charset="0"/>
              </a:rPr>
              <a:t>Storage is decoupled from compute:</a:t>
            </a:r>
            <a:r>
              <a:rPr lang="en-US" b="0" i="0" dirty="0">
                <a:solidFill>
                  <a:srgbClr val="1B3139"/>
                </a:solidFill>
                <a:effectLst/>
                <a:latin typeface="DM Sans" panose="020B0604020202020204" pitchFamily="2" charset="0"/>
              </a:rPr>
              <a:t> In practice this means storage and compute use separate clusters, thus these systems are able to scale to many more concurrent users and larger data sizes. Some modern data warehouses also have this property.</a:t>
            </a:r>
          </a:p>
          <a:p>
            <a:endParaRPr lang="en-IN" dirty="0"/>
          </a:p>
        </p:txBody>
      </p:sp>
    </p:spTree>
    <p:extLst>
      <p:ext uri="{BB962C8B-B14F-4D97-AF65-F5344CB8AC3E}">
        <p14:creationId xmlns:p14="http://schemas.microsoft.com/office/powerpoint/2010/main" val="4331745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AF549-ED85-8DAD-D8C7-F65A034441D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24A6D47-9306-5A2D-E766-C6BCDD736DE4}"/>
              </a:ext>
            </a:extLst>
          </p:cNvPr>
          <p:cNvSpPr>
            <a:spLocks noGrp="1"/>
          </p:cNvSpPr>
          <p:nvPr>
            <p:ph idx="1"/>
          </p:nvPr>
        </p:nvSpPr>
        <p:spPr/>
        <p:txBody>
          <a:bodyPr>
            <a:normAutofit fontScale="62500" lnSpcReduction="20000"/>
          </a:bodyPr>
          <a:lstStyle/>
          <a:p>
            <a:pPr algn="l">
              <a:buFont typeface="Arial" panose="020B0604020202020204" pitchFamily="34" charset="0"/>
              <a:buChar char="•"/>
            </a:pPr>
            <a:r>
              <a:rPr lang="en-US" b="1" i="0" dirty="0">
                <a:solidFill>
                  <a:srgbClr val="1B3139"/>
                </a:solidFill>
                <a:effectLst/>
                <a:latin typeface="DM Sans" panose="020B0604020202020204" pitchFamily="2" charset="0"/>
              </a:rPr>
              <a:t>Openness:</a:t>
            </a:r>
            <a:r>
              <a:rPr lang="en-US" b="0" i="0" dirty="0">
                <a:solidFill>
                  <a:srgbClr val="1B3139"/>
                </a:solidFill>
                <a:effectLst/>
                <a:latin typeface="DM Sans" panose="020B0604020202020204" pitchFamily="2" charset="0"/>
              </a:rPr>
              <a:t> The storage formats they use are open and standardized, such as Parquet, and they provide an API so a variety of tools and engines, including machine learning and Python/R libraries, can efficiently access the data </a:t>
            </a:r>
            <a:r>
              <a:rPr lang="en-US" b="1" i="0" dirty="0">
                <a:solidFill>
                  <a:srgbClr val="1B3139"/>
                </a:solidFill>
                <a:effectLst/>
                <a:latin typeface="DM Sans" panose="020B0604020202020204" pitchFamily="2" charset="0"/>
              </a:rPr>
              <a:t>directly</a:t>
            </a:r>
            <a:r>
              <a:rPr lang="en-US" b="0" i="0" dirty="0">
                <a:solidFill>
                  <a:srgbClr val="1B3139"/>
                </a:solidFill>
                <a:effectLst/>
                <a:latin typeface="DM Sans" panose="020B0604020202020204" pitchFamily="2" charset="0"/>
              </a:rPr>
              <a:t>.</a:t>
            </a:r>
          </a:p>
          <a:p>
            <a:pPr algn="l">
              <a:buFont typeface="Arial" panose="020B0604020202020204" pitchFamily="34" charset="0"/>
              <a:buChar char="•"/>
            </a:pPr>
            <a:r>
              <a:rPr lang="en-US" b="1" i="0" dirty="0">
                <a:solidFill>
                  <a:srgbClr val="1B3139"/>
                </a:solidFill>
                <a:effectLst/>
                <a:latin typeface="DM Sans" panose="020B0604020202020204" pitchFamily="2" charset="0"/>
              </a:rPr>
              <a:t>Support for diverse data types ranging from unstructured to structured data</a:t>
            </a:r>
            <a:r>
              <a:rPr lang="en-US" b="0" i="0" dirty="0">
                <a:solidFill>
                  <a:srgbClr val="1B3139"/>
                </a:solidFill>
                <a:effectLst/>
                <a:latin typeface="DM Sans" panose="020B0604020202020204" pitchFamily="2" charset="0"/>
              </a:rPr>
              <a:t>: The </a:t>
            </a:r>
            <a:r>
              <a:rPr lang="en-US" b="0" i="0" dirty="0" err="1">
                <a:solidFill>
                  <a:srgbClr val="1B3139"/>
                </a:solidFill>
                <a:effectLst/>
                <a:latin typeface="DM Sans" panose="020B0604020202020204" pitchFamily="2" charset="0"/>
              </a:rPr>
              <a:t>lakehouse</a:t>
            </a:r>
            <a:r>
              <a:rPr lang="en-US" b="0" i="0" dirty="0">
                <a:solidFill>
                  <a:srgbClr val="1B3139"/>
                </a:solidFill>
                <a:effectLst/>
                <a:latin typeface="DM Sans" panose="020B0604020202020204" pitchFamily="2" charset="0"/>
              </a:rPr>
              <a:t> can be used to store, refine, analyze, and access data types needed for many new data applications, including images, video, audio, semi-structured data, and text.</a:t>
            </a:r>
          </a:p>
          <a:p>
            <a:pPr algn="l">
              <a:buFont typeface="Arial" panose="020B0604020202020204" pitchFamily="34" charset="0"/>
              <a:buChar char="•"/>
            </a:pPr>
            <a:r>
              <a:rPr lang="en-US" b="1" i="0" dirty="0">
                <a:solidFill>
                  <a:srgbClr val="1B3139"/>
                </a:solidFill>
                <a:effectLst/>
                <a:latin typeface="DM Sans" panose="020B0604020202020204" pitchFamily="2" charset="0"/>
              </a:rPr>
              <a:t>Support for diverse workloads: </a:t>
            </a:r>
            <a:r>
              <a:rPr lang="en-US" b="0" i="0" dirty="0">
                <a:solidFill>
                  <a:srgbClr val="1B3139"/>
                </a:solidFill>
                <a:effectLst/>
                <a:latin typeface="DM Sans" panose="020B0604020202020204" pitchFamily="2" charset="0"/>
              </a:rPr>
              <a:t>including data science, machine learning, and SQL and analytics. Multiple tools might be needed to support all these workloads but they all rely on the same data repository.</a:t>
            </a:r>
          </a:p>
          <a:p>
            <a:pPr algn="l">
              <a:buFont typeface="Arial" panose="020B0604020202020204" pitchFamily="34" charset="0"/>
              <a:buChar char="•"/>
            </a:pPr>
            <a:r>
              <a:rPr lang="en-US" b="1" i="0" dirty="0">
                <a:solidFill>
                  <a:srgbClr val="1B3139"/>
                </a:solidFill>
                <a:effectLst/>
                <a:latin typeface="DM Sans" panose="020B0604020202020204" pitchFamily="2" charset="0"/>
              </a:rPr>
              <a:t>End-to-end streaming:</a:t>
            </a:r>
            <a:r>
              <a:rPr lang="en-US" b="0" i="0" dirty="0">
                <a:solidFill>
                  <a:srgbClr val="1B3139"/>
                </a:solidFill>
                <a:effectLst/>
                <a:latin typeface="DM Sans" panose="020B0604020202020204" pitchFamily="2" charset="0"/>
              </a:rPr>
              <a:t> Real-time reports are the norm in many enterprises. Support for streaming eliminates the need for separate systems dedicated to serving real-time data applications.</a:t>
            </a:r>
          </a:p>
          <a:p>
            <a:pPr algn="l"/>
            <a:r>
              <a:rPr lang="en-US" b="0" i="0" dirty="0">
                <a:solidFill>
                  <a:srgbClr val="1B3139"/>
                </a:solidFill>
                <a:effectLst/>
                <a:latin typeface="DM Sans" panose="020B0604020202020204" pitchFamily="2" charset="0"/>
              </a:rPr>
              <a:t>These are the key attributes of </a:t>
            </a:r>
            <a:r>
              <a:rPr lang="en-US" b="0" i="0" dirty="0" err="1">
                <a:solidFill>
                  <a:srgbClr val="1B3139"/>
                </a:solidFill>
                <a:effectLst/>
                <a:latin typeface="DM Sans" panose="020B0604020202020204" pitchFamily="2" charset="0"/>
              </a:rPr>
              <a:t>lakehouses</a:t>
            </a:r>
            <a:r>
              <a:rPr lang="en-US" b="0" i="0" dirty="0">
                <a:solidFill>
                  <a:srgbClr val="1B3139"/>
                </a:solidFill>
                <a:effectLst/>
                <a:latin typeface="DM Sans" panose="020B0604020202020204" pitchFamily="2" charset="0"/>
              </a:rPr>
              <a:t>. Enterprise grade systems require additional features. Tools for security and access control are basic requirements. Data governance capabilities including auditing, retention, and lineage have become essential particularly in light of recent privacy regulations. Tools that enable data discovery such as data catalogs and data usage metrics are also needed. With a </a:t>
            </a:r>
            <a:r>
              <a:rPr lang="en-US" b="0" i="0" dirty="0" err="1">
                <a:solidFill>
                  <a:srgbClr val="1B3139"/>
                </a:solidFill>
                <a:effectLst/>
                <a:latin typeface="DM Sans" panose="020B0604020202020204" pitchFamily="2" charset="0"/>
              </a:rPr>
              <a:t>lakehouse</a:t>
            </a:r>
            <a:r>
              <a:rPr lang="en-US" b="0" i="0" dirty="0">
                <a:solidFill>
                  <a:srgbClr val="1B3139"/>
                </a:solidFill>
                <a:effectLst/>
                <a:latin typeface="DM Sans" panose="020B0604020202020204" pitchFamily="2" charset="0"/>
              </a:rPr>
              <a:t>, such enterprise features only need to be implemented, tested, and administered for a single system.</a:t>
            </a:r>
          </a:p>
          <a:p>
            <a:endParaRPr lang="en-IN" dirty="0"/>
          </a:p>
        </p:txBody>
      </p:sp>
    </p:spTree>
    <p:extLst>
      <p:ext uri="{BB962C8B-B14F-4D97-AF65-F5344CB8AC3E}">
        <p14:creationId xmlns:p14="http://schemas.microsoft.com/office/powerpoint/2010/main" val="768790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07C085-1EC3-7280-0397-0D751B70EC5E}"/>
              </a:ext>
            </a:extLst>
          </p:cNvPr>
          <p:cNvSpPr>
            <a:spLocks noGrp="1"/>
          </p:cNvSpPr>
          <p:nvPr>
            <p:ph type="title"/>
          </p:nvPr>
        </p:nvSpPr>
        <p:spPr/>
        <p:txBody>
          <a:bodyPr/>
          <a:lstStyle/>
          <a:p>
            <a:r>
              <a:rPr lang="en-US" dirty="0"/>
              <a:t>Lakehouse Examples</a:t>
            </a:r>
            <a:endParaRPr lang="en-IN" dirty="0"/>
          </a:p>
        </p:txBody>
      </p:sp>
      <p:sp>
        <p:nvSpPr>
          <p:cNvPr id="3" name="Content Placeholder 2">
            <a:extLst>
              <a:ext uri="{FF2B5EF4-FFF2-40B4-BE49-F238E27FC236}">
                <a16:creationId xmlns:a16="http://schemas.microsoft.com/office/drawing/2014/main" id="{1189093B-7C45-30ED-D361-28D9389646E4}"/>
              </a:ext>
            </a:extLst>
          </p:cNvPr>
          <p:cNvSpPr>
            <a:spLocks noGrp="1"/>
          </p:cNvSpPr>
          <p:nvPr>
            <p:ph idx="1"/>
          </p:nvPr>
        </p:nvSpPr>
        <p:spPr/>
        <p:txBody>
          <a:bodyPr/>
          <a:lstStyle/>
          <a:p>
            <a:r>
              <a:rPr lang="en-US" b="0" i="0" dirty="0">
                <a:effectLst/>
                <a:latin typeface="DM Sans" pitchFamily="2" charset="0"/>
              </a:rPr>
              <a:t>Databricks Lakehouse </a:t>
            </a:r>
            <a:r>
              <a:rPr lang="en-US" b="0" i="0" dirty="0" err="1">
                <a:effectLst/>
                <a:latin typeface="DM Sans" pitchFamily="2" charset="0"/>
              </a:rPr>
              <a:t>Platform</a:t>
            </a:r>
            <a:r>
              <a:rPr lang="en-US" dirty="0" err="1">
                <a:solidFill>
                  <a:srgbClr val="1B3139"/>
                </a:solidFill>
                <a:latin typeface="DM Sans" pitchFamily="2" charset="0"/>
              </a:rPr>
              <a:t>m</a:t>
            </a:r>
            <a:endParaRPr lang="en-US" dirty="0">
              <a:solidFill>
                <a:srgbClr val="1B3139"/>
              </a:solidFill>
              <a:latin typeface="DM Sans" pitchFamily="2" charset="0"/>
            </a:endParaRPr>
          </a:p>
          <a:p>
            <a:r>
              <a:rPr lang="en-US" b="0" i="0" dirty="0">
                <a:effectLst/>
                <a:latin typeface="DM Sans" pitchFamily="2" charset="0"/>
              </a:rPr>
              <a:t>Azure Synapse Analytics</a:t>
            </a:r>
            <a:r>
              <a:rPr lang="en-US" b="0" i="0" dirty="0">
                <a:solidFill>
                  <a:srgbClr val="1B3139"/>
                </a:solidFill>
                <a:effectLst/>
                <a:latin typeface="DM Sans" pitchFamily="2" charset="0"/>
              </a:rPr>
              <a:t> </a:t>
            </a:r>
          </a:p>
          <a:p>
            <a:r>
              <a:rPr lang="en-US" b="0" i="0" dirty="0" err="1">
                <a:effectLst/>
                <a:latin typeface="DM Sans" pitchFamily="2" charset="0"/>
              </a:rPr>
              <a:t>BigQuery</a:t>
            </a:r>
            <a:endParaRPr lang="en-US" b="0" i="0" dirty="0">
              <a:effectLst/>
              <a:latin typeface="DM Sans" pitchFamily="2" charset="0"/>
            </a:endParaRPr>
          </a:p>
          <a:p>
            <a:r>
              <a:rPr lang="en-US" b="0" i="0" dirty="0">
                <a:effectLst/>
                <a:latin typeface="DM Sans" pitchFamily="2" charset="0"/>
              </a:rPr>
              <a:t>Redshift Spectrum</a:t>
            </a:r>
          </a:p>
          <a:p>
            <a:endParaRPr lang="en-US" b="0" i="0" dirty="0">
              <a:effectLst/>
              <a:latin typeface="DM Sans" pitchFamily="2" charset="0"/>
            </a:endParaRPr>
          </a:p>
          <a:p>
            <a:r>
              <a:rPr lang="en-US" dirty="0">
                <a:solidFill>
                  <a:srgbClr val="1B3139"/>
                </a:solidFill>
                <a:latin typeface="DM Sans" pitchFamily="2" charset="0"/>
              </a:rPr>
              <a:t>All these</a:t>
            </a:r>
            <a:r>
              <a:rPr lang="en-US" b="0" i="0" dirty="0">
                <a:solidFill>
                  <a:srgbClr val="1B3139"/>
                </a:solidFill>
                <a:effectLst/>
                <a:latin typeface="DM Sans" pitchFamily="2" charset="0"/>
              </a:rPr>
              <a:t> have some of the </a:t>
            </a:r>
            <a:r>
              <a:rPr lang="en-US" b="0" i="0" dirty="0" err="1">
                <a:solidFill>
                  <a:srgbClr val="1B3139"/>
                </a:solidFill>
                <a:effectLst/>
                <a:latin typeface="DM Sans" pitchFamily="2" charset="0"/>
              </a:rPr>
              <a:t>lakehouse</a:t>
            </a:r>
            <a:r>
              <a:rPr lang="en-US" b="0" i="0" dirty="0">
                <a:solidFill>
                  <a:srgbClr val="1B3139"/>
                </a:solidFill>
                <a:effectLst/>
                <a:latin typeface="DM Sans" pitchFamily="2" charset="0"/>
              </a:rPr>
              <a:t> features listed above, but they are examples that focus primarily on BI and other SQL applications.</a:t>
            </a:r>
            <a:endParaRPr lang="en-IN" dirty="0"/>
          </a:p>
        </p:txBody>
      </p:sp>
    </p:spTree>
    <p:extLst>
      <p:ext uri="{BB962C8B-B14F-4D97-AF65-F5344CB8AC3E}">
        <p14:creationId xmlns:p14="http://schemas.microsoft.com/office/powerpoint/2010/main" val="3984829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EEAFB3-45C6-31F3-2E19-B962ECD432F5}"/>
              </a:ext>
            </a:extLst>
          </p:cNvPr>
          <p:cNvSpPr>
            <a:spLocks noGrp="1"/>
          </p:cNvSpPr>
          <p:nvPr>
            <p:ph type="title"/>
          </p:nvPr>
        </p:nvSpPr>
        <p:spPr/>
        <p:txBody>
          <a:bodyPr/>
          <a:lstStyle/>
          <a:p>
            <a:r>
              <a:rPr lang="en-IN" b="0" i="0" dirty="0">
                <a:solidFill>
                  <a:srgbClr val="1B3139"/>
                </a:solidFill>
                <a:effectLst/>
                <a:latin typeface="DM Sans" pitchFamily="2" charset="0"/>
              </a:rPr>
              <a:t>Open source file formats</a:t>
            </a:r>
            <a:endParaRPr lang="en-IN" dirty="0"/>
          </a:p>
        </p:txBody>
      </p:sp>
      <p:sp>
        <p:nvSpPr>
          <p:cNvPr id="3" name="Content Placeholder 2">
            <a:extLst>
              <a:ext uri="{FF2B5EF4-FFF2-40B4-BE49-F238E27FC236}">
                <a16:creationId xmlns:a16="http://schemas.microsoft.com/office/drawing/2014/main" id="{6548C427-EDC0-43AD-0987-CC9EBF1F005A}"/>
              </a:ext>
            </a:extLst>
          </p:cNvPr>
          <p:cNvSpPr>
            <a:spLocks noGrp="1"/>
          </p:cNvSpPr>
          <p:nvPr>
            <p:ph idx="1"/>
          </p:nvPr>
        </p:nvSpPr>
        <p:spPr/>
        <p:txBody>
          <a:bodyPr/>
          <a:lstStyle/>
          <a:p>
            <a:r>
              <a:rPr lang="en-IN" b="0" i="0" dirty="0">
                <a:effectLst/>
                <a:latin typeface="DM Sans" pitchFamily="2" charset="0"/>
              </a:rPr>
              <a:t>Delta Lake</a:t>
            </a:r>
            <a:endParaRPr lang="en-IN" b="0" i="0" dirty="0">
              <a:solidFill>
                <a:srgbClr val="1B3139"/>
              </a:solidFill>
              <a:effectLst/>
              <a:latin typeface="DM Sans" pitchFamily="2" charset="0"/>
            </a:endParaRPr>
          </a:p>
          <a:p>
            <a:r>
              <a:rPr lang="en-IN" b="0" i="0" dirty="0">
                <a:effectLst/>
                <a:latin typeface="DM Sans" pitchFamily="2" charset="0"/>
              </a:rPr>
              <a:t>Apache Iceberg</a:t>
            </a:r>
            <a:endParaRPr lang="en-IN" b="0" i="0" dirty="0">
              <a:solidFill>
                <a:srgbClr val="1B3139"/>
              </a:solidFill>
              <a:effectLst/>
              <a:latin typeface="DM Sans" pitchFamily="2" charset="0"/>
            </a:endParaRPr>
          </a:p>
          <a:p>
            <a:r>
              <a:rPr lang="en-IN" b="0" i="0" dirty="0">
                <a:effectLst/>
                <a:latin typeface="DM Sans" pitchFamily="2" charset="0"/>
              </a:rPr>
              <a:t>Apache </a:t>
            </a:r>
            <a:r>
              <a:rPr lang="en-IN" b="0" i="0" dirty="0" err="1">
                <a:effectLst/>
                <a:latin typeface="DM Sans" pitchFamily="2" charset="0"/>
              </a:rPr>
              <a:t>Hudi</a:t>
            </a:r>
            <a:endParaRPr lang="en-IN" dirty="0"/>
          </a:p>
        </p:txBody>
      </p:sp>
    </p:spTree>
    <p:extLst>
      <p:ext uri="{BB962C8B-B14F-4D97-AF65-F5344CB8AC3E}">
        <p14:creationId xmlns:p14="http://schemas.microsoft.com/office/powerpoint/2010/main" val="19188351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C714E-B303-2B60-4C76-81B3101E2C50}"/>
              </a:ext>
            </a:extLst>
          </p:cNvPr>
          <p:cNvSpPr>
            <a:spLocks noGrp="1"/>
          </p:cNvSpPr>
          <p:nvPr>
            <p:ph type="title"/>
          </p:nvPr>
        </p:nvSpPr>
        <p:spPr/>
        <p:txBody>
          <a:bodyPr/>
          <a:lstStyle/>
          <a:p>
            <a:endParaRPr lang="en-IN" dirty="0"/>
          </a:p>
        </p:txBody>
      </p:sp>
      <p:sp>
        <p:nvSpPr>
          <p:cNvPr id="7" name="Content Placeholder 6">
            <a:extLst>
              <a:ext uri="{FF2B5EF4-FFF2-40B4-BE49-F238E27FC236}">
                <a16:creationId xmlns:a16="http://schemas.microsoft.com/office/drawing/2014/main" id="{2BAECD89-6968-6DAC-1927-D0D13DE6F724}"/>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DDC6453C-B7CA-8C98-0320-1FA8BA915D04}"/>
              </a:ext>
            </a:extLst>
          </p:cNvPr>
          <p:cNvPicPr>
            <a:picLocks noChangeAspect="1"/>
          </p:cNvPicPr>
          <p:nvPr/>
        </p:nvPicPr>
        <p:blipFill>
          <a:blip r:embed="rId2"/>
          <a:stretch>
            <a:fillRect/>
          </a:stretch>
        </p:blipFill>
        <p:spPr>
          <a:xfrm>
            <a:off x="370922" y="365125"/>
            <a:ext cx="11249578" cy="6016626"/>
          </a:xfrm>
          <a:prstGeom prst="rect">
            <a:avLst/>
          </a:prstGeom>
        </p:spPr>
      </p:pic>
    </p:spTree>
    <p:extLst>
      <p:ext uri="{BB962C8B-B14F-4D97-AF65-F5344CB8AC3E}">
        <p14:creationId xmlns:p14="http://schemas.microsoft.com/office/powerpoint/2010/main" val="2206908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EE209-EDDB-CB30-9001-1C0DE2413AFD}"/>
              </a:ext>
            </a:extLst>
          </p:cNvPr>
          <p:cNvSpPr>
            <a:spLocks noGrp="1"/>
          </p:cNvSpPr>
          <p:nvPr>
            <p:ph type="title"/>
          </p:nvPr>
        </p:nvSpPr>
        <p:spPr/>
        <p:txBody>
          <a:bodyPr/>
          <a:lstStyle/>
          <a:p>
            <a:r>
              <a:rPr lang="en-US" dirty="0"/>
              <a:t>Hash Distribution</a:t>
            </a:r>
            <a:endParaRPr lang="en-IN" dirty="0"/>
          </a:p>
        </p:txBody>
      </p:sp>
      <p:sp>
        <p:nvSpPr>
          <p:cNvPr id="3" name="Content Placeholder 2">
            <a:extLst>
              <a:ext uri="{FF2B5EF4-FFF2-40B4-BE49-F238E27FC236}">
                <a16:creationId xmlns:a16="http://schemas.microsoft.com/office/drawing/2014/main" id="{31BA1EE3-7DBD-6A2C-E313-A449170F22B7}"/>
              </a:ext>
            </a:extLst>
          </p:cNvPr>
          <p:cNvSpPr>
            <a:spLocks noGrp="1"/>
          </p:cNvSpPr>
          <p:nvPr>
            <p:ph idx="1"/>
          </p:nvPr>
        </p:nvSpPr>
        <p:spPr/>
        <p:txBody>
          <a:bodyPr/>
          <a:lstStyle/>
          <a:p>
            <a:endParaRPr lang="en-IN" dirty="0"/>
          </a:p>
        </p:txBody>
      </p:sp>
      <p:pic>
        <p:nvPicPr>
          <p:cNvPr id="5" name="Picture 4">
            <a:extLst>
              <a:ext uri="{FF2B5EF4-FFF2-40B4-BE49-F238E27FC236}">
                <a16:creationId xmlns:a16="http://schemas.microsoft.com/office/drawing/2014/main" id="{AC10B30E-E00C-67E3-C73D-13D26C7767A9}"/>
              </a:ext>
            </a:extLst>
          </p:cNvPr>
          <p:cNvPicPr>
            <a:picLocks noChangeAspect="1"/>
          </p:cNvPicPr>
          <p:nvPr/>
        </p:nvPicPr>
        <p:blipFill>
          <a:blip r:embed="rId2"/>
          <a:stretch>
            <a:fillRect/>
          </a:stretch>
        </p:blipFill>
        <p:spPr>
          <a:xfrm>
            <a:off x="2228850" y="1825625"/>
            <a:ext cx="7029450" cy="4010025"/>
          </a:xfrm>
          <a:prstGeom prst="rect">
            <a:avLst/>
          </a:prstGeom>
        </p:spPr>
      </p:pic>
    </p:spTree>
    <p:extLst>
      <p:ext uri="{BB962C8B-B14F-4D97-AF65-F5344CB8AC3E}">
        <p14:creationId xmlns:p14="http://schemas.microsoft.com/office/powerpoint/2010/main" val="2431061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4BC98-81E2-E382-7DD9-969464BADC3E}"/>
              </a:ext>
            </a:extLst>
          </p:cNvPr>
          <p:cNvSpPr>
            <a:spLocks noGrp="1"/>
          </p:cNvSpPr>
          <p:nvPr>
            <p:ph type="title"/>
          </p:nvPr>
        </p:nvSpPr>
        <p:spPr/>
        <p:txBody>
          <a:bodyPr/>
          <a:lstStyle/>
          <a:p>
            <a:r>
              <a:rPr lang="en-IN" b="1" i="0" dirty="0">
                <a:solidFill>
                  <a:srgbClr val="161616"/>
                </a:solidFill>
                <a:effectLst/>
                <a:latin typeface="Segoe UI" panose="020B0502040204020203" pitchFamily="34" charset="0"/>
              </a:rPr>
              <a:t>Round-robin distributed tables</a:t>
            </a:r>
            <a:br>
              <a:rPr lang="en-IN" b="1" i="0" dirty="0">
                <a:solidFill>
                  <a:srgbClr val="161616"/>
                </a:solidFill>
                <a:effectLst/>
                <a:latin typeface="Segoe UI" panose="020B0502040204020203" pitchFamily="34" charset="0"/>
              </a:rPr>
            </a:br>
            <a:endParaRPr lang="en-IN" dirty="0"/>
          </a:p>
        </p:txBody>
      </p:sp>
      <p:sp>
        <p:nvSpPr>
          <p:cNvPr id="3" name="Content Placeholder 2">
            <a:extLst>
              <a:ext uri="{FF2B5EF4-FFF2-40B4-BE49-F238E27FC236}">
                <a16:creationId xmlns:a16="http://schemas.microsoft.com/office/drawing/2014/main" id="{C1D84E64-6D0B-619D-D2C1-F38937C6F4AF}"/>
              </a:ext>
            </a:extLst>
          </p:cNvPr>
          <p:cNvSpPr>
            <a:spLocks noGrp="1"/>
          </p:cNvSpPr>
          <p:nvPr>
            <p:ph idx="1"/>
          </p:nvPr>
        </p:nvSpPr>
        <p:spPr/>
        <p:txBody>
          <a:bodyPr/>
          <a:lstStyle/>
          <a:p>
            <a:pPr algn="l"/>
            <a:r>
              <a:rPr lang="en-US" b="0" i="0" dirty="0">
                <a:solidFill>
                  <a:srgbClr val="161616"/>
                </a:solidFill>
                <a:effectLst/>
                <a:latin typeface="Segoe UI" panose="020B0502040204020203" pitchFamily="34" charset="0"/>
              </a:rPr>
              <a:t>A round-robin table is the simplest table to create and delivers fast performance when used as a staging table for loads.</a:t>
            </a:r>
          </a:p>
          <a:p>
            <a:pPr algn="l"/>
            <a:r>
              <a:rPr lang="en-US" b="0" i="0" dirty="0">
                <a:solidFill>
                  <a:srgbClr val="161616"/>
                </a:solidFill>
                <a:effectLst/>
                <a:latin typeface="Segoe UI" panose="020B0502040204020203" pitchFamily="34" charset="0"/>
              </a:rPr>
              <a:t>A round-robin distributed table distributes data evenly across the table but without any further optimization. A distribution is first chosen at random and then buffers of rows are assigned to distributions sequentially. It is quick to load data into a round-robin table, but query performance can often be better with hash distributed tables. Joins on round-robin tables require reshuffling data, which takes additional time.</a:t>
            </a:r>
          </a:p>
          <a:p>
            <a:endParaRPr lang="en-IN" dirty="0"/>
          </a:p>
        </p:txBody>
      </p:sp>
    </p:spTree>
    <p:extLst>
      <p:ext uri="{BB962C8B-B14F-4D97-AF65-F5344CB8AC3E}">
        <p14:creationId xmlns:p14="http://schemas.microsoft.com/office/powerpoint/2010/main" val="279462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91253-59BF-71A2-210E-C987E186CDB1}"/>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59A4C241-E4E2-F90E-1B01-A9FF8A1F32D5}"/>
              </a:ext>
            </a:extLst>
          </p:cNvPr>
          <p:cNvPicPr>
            <a:picLocks noGrp="1" noChangeAspect="1"/>
          </p:cNvPicPr>
          <p:nvPr>
            <p:ph idx="1"/>
          </p:nvPr>
        </p:nvPicPr>
        <p:blipFill>
          <a:blip r:embed="rId2"/>
          <a:stretch>
            <a:fillRect/>
          </a:stretch>
        </p:blipFill>
        <p:spPr>
          <a:xfrm>
            <a:off x="2952750" y="1910556"/>
            <a:ext cx="6286500" cy="4181475"/>
          </a:xfrm>
        </p:spPr>
      </p:pic>
      <p:sp>
        <p:nvSpPr>
          <p:cNvPr id="4" name="TextBox 3">
            <a:extLst>
              <a:ext uri="{FF2B5EF4-FFF2-40B4-BE49-F238E27FC236}">
                <a16:creationId xmlns:a16="http://schemas.microsoft.com/office/drawing/2014/main" id="{12C6AC69-439C-5FDA-9128-DC3FFDF44992}"/>
              </a:ext>
            </a:extLst>
          </p:cNvPr>
          <p:cNvSpPr txBox="1"/>
          <p:nvPr/>
        </p:nvSpPr>
        <p:spPr>
          <a:xfrm>
            <a:off x="3048000" y="3244334"/>
            <a:ext cx="6096000" cy="369332"/>
          </a:xfrm>
          <a:prstGeom prst="rect">
            <a:avLst/>
          </a:prstGeom>
          <a:noFill/>
        </p:spPr>
        <p:txBody>
          <a:bodyPr wrap="square">
            <a:spAutoFit/>
          </a:bodyPr>
          <a:lstStyle/>
          <a:p>
            <a:r>
              <a:rPr lang="en-IN" dirty="0" err="1"/>
              <a:t>flattened_df</a:t>
            </a:r>
            <a:endParaRPr lang="en-IN" dirty="0"/>
          </a:p>
        </p:txBody>
      </p:sp>
    </p:spTree>
    <p:extLst>
      <p:ext uri="{BB962C8B-B14F-4D97-AF65-F5344CB8AC3E}">
        <p14:creationId xmlns:p14="http://schemas.microsoft.com/office/powerpoint/2010/main" val="40622366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40095-A595-9300-A13F-55E823379CEE}"/>
              </a:ext>
            </a:extLst>
          </p:cNvPr>
          <p:cNvSpPr>
            <a:spLocks noGrp="1"/>
          </p:cNvSpPr>
          <p:nvPr>
            <p:ph type="title"/>
          </p:nvPr>
        </p:nvSpPr>
        <p:spPr/>
        <p:txBody>
          <a:bodyPr/>
          <a:lstStyle/>
          <a:p>
            <a:r>
              <a:rPr lang="en-US" dirty="0"/>
              <a:t>Spark Streaming</a:t>
            </a:r>
            <a:endParaRPr lang="en-IN" dirty="0"/>
          </a:p>
        </p:txBody>
      </p:sp>
      <p:sp>
        <p:nvSpPr>
          <p:cNvPr id="3" name="Content Placeholder 2">
            <a:extLst>
              <a:ext uri="{FF2B5EF4-FFF2-40B4-BE49-F238E27FC236}">
                <a16:creationId xmlns:a16="http://schemas.microsoft.com/office/drawing/2014/main" id="{7EB90109-7E3B-9EB3-9494-C94837EDA519}"/>
              </a:ext>
            </a:extLst>
          </p:cNvPr>
          <p:cNvSpPr>
            <a:spLocks noGrp="1"/>
          </p:cNvSpPr>
          <p:nvPr>
            <p:ph idx="1"/>
          </p:nvPr>
        </p:nvSpPr>
        <p:spPr/>
        <p:txBody>
          <a:bodyPr/>
          <a:lstStyle/>
          <a:p>
            <a:r>
              <a:rPr lang="en-IN" dirty="0"/>
              <a:t>Problems of streaming: </a:t>
            </a:r>
          </a:p>
          <a:p>
            <a:r>
              <a:rPr lang="en-US" dirty="0"/>
              <a:t>File come late</a:t>
            </a:r>
          </a:p>
          <a:p>
            <a:r>
              <a:rPr lang="en-US" dirty="0"/>
              <a:t>Records belongs to multiple interval failure, </a:t>
            </a:r>
          </a:p>
          <a:p>
            <a:r>
              <a:rPr lang="en-US" dirty="0"/>
              <a:t>Previous already running, </a:t>
            </a:r>
          </a:p>
          <a:p>
            <a:r>
              <a:rPr lang="en-US" dirty="0"/>
              <a:t>How to know which file already processed.</a:t>
            </a:r>
          </a:p>
          <a:p>
            <a:endParaRPr lang="en-US" dirty="0"/>
          </a:p>
          <a:p>
            <a:r>
              <a:rPr lang="en-US" b="0" i="1" dirty="0">
                <a:solidFill>
                  <a:srgbClr val="1D1F22"/>
                </a:solidFill>
                <a:effectLst/>
                <a:latin typeface="-apple-system"/>
              </a:rPr>
              <a:t>Structured Streaming provides fast, scalable, fault-tolerant, end-to-end exactly-once stream processing without the user having to reason about streaming.</a:t>
            </a:r>
            <a:endParaRPr lang="en-IN" dirty="0"/>
          </a:p>
        </p:txBody>
      </p:sp>
    </p:spTree>
    <p:extLst>
      <p:ext uri="{BB962C8B-B14F-4D97-AF65-F5344CB8AC3E}">
        <p14:creationId xmlns:p14="http://schemas.microsoft.com/office/powerpoint/2010/main" val="941466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4A8F9-81A5-ED5B-E9C7-97AD06FE3B3E}"/>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74F576A-BF72-477E-89B3-CA04E839A1C3}"/>
              </a:ext>
            </a:extLst>
          </p:cNvPr>
          <p:cNvSpPr>
            <a:spLocks noGrp="1"/>
          </p:cNvSpPr>
          <p:nvPr>
            <p:ph idx="1"/>
          </p:nvPr>
        </p:nvSpPr>
        <p:spPr/>
        <p:txBody>
          <a:bodyPr/>
          <a:lstStyle/>
          <a:p>
            <a:r>
              <a:rPr lang="en-US" dirty="0"/>
              <a:t>Automatic looping between the batches</a:t>
            </a:r>
          </a:p>
          <a:p>
            <a:r>
              <a:rPr lang="en-US" dirty="0"/>
              <a:t>Maintaining the batch start and end positions.</a:t>
            </a:r>
          </a:p>
          <a:p>
            <a:r>
              <a:rPr lang="en-US" dirty="0"/>
              <a:t>Storing and managing intermediate state.</a:t>
            </a:r>
          </a:p>
          <a:p>
            <a:r>
              <a:rPr lang="en-US" dirty="0"/>
              <a:t>Combining results to the previous batch results.</a:t>
            </a:r>
          </a:p>
          <a:p>
            <a:r>
              <a:rPr lang="en-US" dirty="0"/>
              <a:t>Restarting from the same place in case of failure.</a:t>
            </a:r>
          </a:p>
          <a:p>
            <a:endParaRPr lang="en-US" dirty="0"/>
          </a:p>
          <a:p>
            <a:r>
              <a:rPr lang="en-US" b="0" i="0" dirty="0">
                <a:solidFill>
                  <a:srgbClr val="1D1F22"/>
                </a:solidFill>
                <a:effectLst/>
                <a:latin typeface="-apple-system"/>
              </a:rPr>
              <a:t>Spark 2.3, we have introduced a new low-latency processing mode called </a:t>
            </a:r>
            <a:r>
              <a:rPr lang="en-US" b="1" i="0" dirty="0">
                <a:solidFill>
                  <a:srgbClr val="1D1F22"/>
                </a:solidFill>
                <a:effectLst/>
                <a:latin typeface="-apple-system"/>
              </a:rPr>
              <a:t>Continuous Processing</a:t>
            </a:r>
            <a:r>
              <a:rPr lang="en-US" b="0" i="0" dirty="0">
                <a:solidFill>
                  <a:srgbClr val="1D1F22"/>
                </a:solidFill>
                <a:effectLst/>
                <a:latin typeface="-apple-system"/>
              </a:rPr>
              <a:t>, which can achieve end-to-end latencies as low as 1 millisecond with at-least-once guarantees. </a:t>
            </a:r>
            <a:endParaRPr lang="en-IN" dirty="0"/>
          </a:p>
        </p:txBody>
      </p:sp>
    </p:spTree>
    <p:extLst>
      <p:ext uri="{BB962C8B-B14F-4D97-AF65-F5344CB8AC3E}">
        <p14:creationId xmlns:p14="http://schemas.microsoft.com/office/powerpoint/2010/main" val="37011173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3B391-B069-3C83-2A73-1A1C5D944AD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03E1304F-FF58-8C94-7E0D-83C3FFC24B89}"/>
              </a:ext>
            </a:extLst>
          </p:cNvPr>
          <p:cNvPicPr>
            <a:picLocks noGrp="1" noChangeAspect="1"/>
          </p:cNvPicPr>
          <p:nvPr>
            <p:ph idx="1"/>
          </p:nvPr>
        </p:nvPicPr>
        <p:blipFill>
          <a:blip r:embed="rId2"/>
          <a:stretch>
            <a:fillRect/>
          </a:stretch>
        </p:blipFill>
        <p:spPr>
          <a:xfrm>
            <a:off x="1486772" y="1806575"/>
            <a:ext cx="8075456" cy="4351338"/>
          </a:xfrm>
        </p:spPr>
      </p:pic>
    </p:spTree>
    <p:extLst>
      <p:ext uri="{BB962C8B-B14F-4D97-AF65-F5344CB8AC3E}">
        <p14:creationId xmlns:p14="http://schemas.microsoft.com/office/powerpoint/2010/main" val="4779294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AE1A7-1FC7-A458-AEBA-8BF4524F7546}"/>
              </a:ext>
            </a:extLst>
          </p:cNvPr>
          <p:cNvSpPr>
            <a:spLocks noGrp="1"/>
          </p:cNvSpPr>
          <p:nvPr>
            <p:ph type="title"/>
          </p:nvPr>
        </p:nvSpPr>
        <p:spPr/>
        <p:txBody>
          <a:bodyPr>
            <a:normAutofit fontScale="90000"/>
          </a:bodyPr>
          <a:lstStyle/>
          <a:p>
            <a:r>
              <a:rPr lang="en-US" dirty="0"/>
              <a:t>Spark Streaming (</a:t>
            </a:r>
            <a:r>
              <a:rPr lang="en-US" dirty="0" err="1"/>
              <a:t>Dstream</a:t>
            </a:r>
            <a:r>
              <a:rPr lang="en-US" dirty="0"/>
              <a:t> API) vs Structured Streaming API</a:t>
            </a:r>
            <a:br>
              <a:rPr lang="en-IN" dirty="0"/>
            </a:br>
            <a:endParaRPr lang="en-IN" dirty="0"/>
          </a:p>
        </p:txBody>
      </p:sp>
      <p:sp>
        <p:nvSpPr>
          <p:cNvPr id="3" name="Content Placeholder 2">
            <a:extLst>
              <a:ext uri="{FF2B5EF4-FFF2-40B4-BE49-F238E27FC236}">
                <a16:creationId xmlns:a16="http://schemas.microsoft.com/office/drawing/2014/main" id="{64134006-038A-6A2D-578A-581844314CB0}"/>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668472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D2D8D-BBE1-8A61-6AA4-4F1C0AE25A92}"/>
              </a:ext>
            </a:extLst>
          </p:cNvPr>
          <p:cNvSpPr>
            <a:spLocks noGrp="1"/>
          </p:cNvSpPr>
          <p:nvPr>
            <p:ph type="title"/>
          </p:nvPr>
        </p:nvSpPr>
        <p:spPr/>
        <p:txBody>
          <a:bodyPr/>
          <a:lstStyle/>
          <a:p>
            <a:r>
              <a:rPr lang="en-IN" dirty="0"/>
              <a:t>Types of triggers</a:t>
            </a:r>
          </a:p>
        </p:txBody>
      </p:sp>
      <p:sp>
        <p:nvSpPr>
          <p:cNvPr id="3" name="Content Placeholder 2">
            <a:extLst>
              <a:ext uri="{FF2B5EF4-FFF2-40B4-BE49-F238E27FC236}">
                <a16:creationId xmlns:a16="http://schemas.microsoft.com/office/drawing/2014/main" id="{9F348421-3EFC-5745-EEC4-4BF60508139B}"/>
              </a:ext>
            </a:extLst>
          </p:cNvPr>
          <p:cNvSpPr>
            <a:spLocks noGrp="1"/>
          </p:cNvSpPr>
          <p:nvPr>
            <p:ph idx="1"/>
          </p:nvPr>
        </p:nvSpPr>
        <p:spPr/>
        <p:txBody>
          <a:bodyPr/>
          <a:lstStyle/>
          <a:p>
            <a:r>
              <a:rPr lang="en-US" dirty="0"/>
              <a:t>Unspecified, Time interval, One time , continuous</a:t>
            </a:r>
            <a:endParaRPr lang="en-IN" dirty="0"/>
          </a:p>
        </p:txBody>
      </p:sp>
    </p:spTree>
    <p:extLst>
      <p:ext uri="{BB962C8B-B14F-4D97-AF65-F5344CB8AC3E}">
        <p14:creationId xmlns:p14="http://schemas.microsoft.com/office/powerpoint/2010/main" val="293409650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5B99D-6321-2F83-8A37-4B591DE2542F}"/>
              </a:ext>
            </a:extLst>
          </p:cNvPr>
          <p:cNvSpPr>
            <a:spLocks noGrp="1"/>
          </p:cNvSpPr>
          <p:nvPr>
            <p:ph type="title"/>
          </p:nvPr>
        </p:nvSpPr>
        <p:spPr/>
        <p:txBody>
          <a:bodyPr/>
          <a:lstStyle/>
          <a:p>
            <a:r>
              <a:rPr lang="en-IN" dirty="0"/>
              <a:t>Spark default streaming source</a:t>
            </a:r>
          </a:p>
        </p:txBody>
      </p:sp>
      <p:sp>
        <p:nvSpPr>
          <p:cNvPr id="3" name="Content Placeholder 2">
            <a:extLst>
              <a:ext uri="{FF2B5EF4-FFF2-40B4-BE49-F238E27FC236}">
                <a16:creationId xmlns:a16="http://schemas.microsoft.com/office/drawing/2014/main" id="{1372451D-4E6C-6D7F-0421-6159C5ABE45C}"/>
              </a:ext>
            </a:extLst>
          </p:cNvPr>
          <p:cNvSpPr>
            <a:spLocks noGrp="1"/>
          </p:cNvSpPr>
          <p:nvPr>
            <p:ph idx="1"/>
          </p:nvPr>
        </p:nvSpPr>
        <p:spPr/>
        <p:txBody>
          <a:bodyPr/>
          <a:lstStyle/>
          <a:p>
            <a:r>
              <a:rPr lang="en-IN" dirty="0"/>
              <a:t>Socket source Rate source File source  and Kafka source</a:t>
            </a:r>
          </a:p>
        </p:txBody>
      </p:sp>
    </p:spTree>
    <p:extLst>
      <p:ext uri="{BB962C8B-B14F-4D97-AF65-F5344CB8AC3E}">
        <p14:creationId xmlns:p14="http://schemas.microsoft.com/office/powerpoint/2010/main" val="24601773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D04BF-C046-1D78-43E8-C80B950BCADE}"/>
              </a:ext>
            </a:extLst>
          </p:cNvPr>
          <p:cNvSpPr>
            <a:spLocks noGrp="1"/>
          </p:cNvSpPr>
          <p:nvPr>
            <p:ph type="title"/>
          </p:nvPr>
        </p:nvSpPr>
        <p:spPr/>
        <p:txBody>
          <a:bodyPr/>
          <a:lstStyle/>
          <a:p>
            <a:r>
              <a:rPr lang="en-US" dirty="0"/>
              <a:t>Output modes</a:t>
            </a:r>
            <a:endParaRPr lang="en-IN" dirty="0"/>
          </a:p>
        </p:txBody>
      </p:sp>
      <p:sp>
        <p:nvSpPr>
          <p:cNvPr id="3" name="Content Placeholder 2">
            <a:extLst>
              <a:ext uri="{FF2B5EF4-FFF2-40B4-BE49-F238E27FC236}">
                <a16:creationId xmlns:a16="http://schemas.microsoft.com/office/drawing/2014/main" id="{11BA9448-D920-870B-FA31-21BAE72E8A17}"/>
              </a:ext>
            </a:extLst>
          </p:cNvPr>
          <p:cNvSpPr>
            <a:spLocks noGrp="1"/>
          </p:cNvSpPr>
          <p:nvPr>
            <p:ph idx="1"/>
          </p:nvPr>
        </p:nvSpPr>
        <p:spPr/>
        <p:txBody>
          <a:bodyPr>
            <a:normAutofit fontScale="85000" lnSpcReduction="10000"/>
          </a:bodyPr>
          <a:lstStyle/>
          <a:p>
            <a:pPr algn="l"/>
            <a:r>
              <a:rPr lang="en-US" b="0" i="0" dirty="0">
                <a:solidFill>
                  <a:srgbClr val="1D1F22"/>
                </a:solidFill>
                <a:effectLst/>
                <a:latin typeface="-apple-system"/>
              </a:rPr>
              <a:t>The “Output” is defined as what gets written out to the external storage. The output can be defined in a different mode:</a:t>
            </a:r>
          </a:p>
          <a:p>
            <a:pPr algn="l">
              <a:buFont typeface="Arial" panose="020B0604020202020204" pitchFamily="34" charset="0"/>
              <a:buChar char="•"/>
            </a:pPr>
            <a:r>
              <a:rPr lang="en-US" b="0" i="1" dirty="0">
                <a:solidFill>
                  <a:srgbClr val="1D1F22"/>
                </a:solidFill>
                <a:effectLst/>
                <a:latin typeface="-apple-system"/>
              </a:rPr>
              <a:t>Complete Mode</a:t>
            </a:r>
            <a:r>
              <a:rPr lang="en-US" b="0" i="0" dirty="0">
                <a:solidFill>
                  <a:srgbClr val="1D1F22"/>
                </a:solidFill>
                <a:effectLst/>
                <a:latin typeface="-apple-system"/>
              </a:rPr>
              <a:t> - The entire updated Result Table will be written to the external storage. It is up to the storage connector to decide how to handle writing of the entire table.</a:t>
            </a:r>
          </a:p>
          <a:p>
            <a:pPr algn="l">
              <a:buFont typeface="Arial" panose="020B0604020202020204" pitchFamily="34" charset="0"/>
              <a:buChar char="•"/>
            </a:pPr>
            <a:r>
              <a:rPr lang="en-US" b="0" i="1" dirty="0">
                <a:solidFill>
                  <a:srgbClr val="1D1F22"/>
                </a:solidFill>
                <a:effectLst/>
                <a:latin typeface="-apple-system"/>
              </a:rPr>
              <a:t>Append Mode</a:t>
            </a:r>
            <a:r>
              <a:rPr lang="en-US" b="0" i="0" dirty="0">
                <a:solidFill>
                  <a:srgbClr val="1D1F22"/>
                </a:solidFill>
                <a:effectLst/>
                <a:latin typeface="-apple-system"/>
              </a:rPr>
              <a:t> - Only the new rows appended in the Result Table since the last trigger will be written to the external storage. This is applicable only on the queries where existing rows in the Result Table are not expected to change.</a:t>
            </a:r>
          </a:p>
          <a:p>
            <a:pPr algn="l">
              <a:buFont typeface="Arial" panose="020B0604020202020204" pitchFamily="34" charset="0"/>
              <a:buChar char="•"/>
            </a:pPr>
            <a:r>
              <a:rPr lang="en-US" b="0" i="1" dirty="0">
                <a:solidFill>
                  <a:srgbClr val="1D1F22"/>
                </a:solidFill>
                <a:effectLst/>
                <a:latin typeface="-apple-system"/>
              </a:rPr>
              <a:t>Update Mode</a:t>
            </a:r>
            <a:r>
              <a:rPr lang="en-US" b="0" i="0" dirty="0">
                <a:solidFill>
                  <a:srgbClr val="1D1F22"/>
                </a:solidFill>
                <a:effectLst/>
                <a:latin typeface="-apple-system"/>
              </a:rPr>
              <a:t> - Only the rows that were updated in the Result Table since the last trigger will be written to the external storage (available since Spark 2.1.1). Note that this is different from the Complete Mode in that this mode only outputs the rows that have changed since the last trigger. If the query doesn’t contain aggregations, it will be equivalent to Append mode.</a:t>
            </a:r>
          </a:p>
        </p:txBody>
      </p:sp>
    </p:spTree>
    <p:extLst>
      <p:ext uri="{BB962C8B-B14F-4D97-AF65-F5344CB8AC3E}">
        <p14:creationId xmlns:p14="http://schemas.microsoft.com/office/powerpoint/2010/main" val="6304588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C8255-F13E-84A7-E6D3-7F2A82C784BB}"/>
              </a:ext>
            </a:extLst>
          </p:cNvPr>
          <p:cNvSpPr>
            <a:spLocks noGrp="1"/>
          </p:cNvSpPr>
          <p:nvPr>
            <p:ph type="title"/>
          </p:nvPr>
        </p:nvSpPr>
        <p:spPr/>
        <p:txBody>
          <a:bodyPr/>
          <a:lstStyle/>
          <a:p>
            <a:r>
              <a:rPr lang="en-US" dirty="0"/>
              <a:t>Fault Tolerance</a:t>
            </a:r>
            <a:endParaRPr lang="en-IN" dirty="0"/>
          </a:p>
        </p:txBody>
      </p:sp>
      <p:sp>
        <p:nvSpPr>
          <p:cNvPr id="3" name="Content Placeholder 2">
            <a:extLst>
              <a:ext uri="{FF2B5EF4-FFF2-40B4-BE49-F238E27FC236}">
                <a16:creationId xmlns:a16="http://schemas.microsoft.com/office/drawing/2014/main" id="{300E541C-4E02-C5DA-496A-C0ADAA53B0D8}"/>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2914991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F98B2-A8D5-1274-84F4-6DBB0B5D172D}"/>
              </a:ext>
            </a:extLst>
          </p:cNvPr>
          <p:cNvSpPr>
            <a:spLocks noGrp="1"/>
          </p:cNvSpPr>
          <p:nvPr>
            <p:ph type="title"/>
          </p:nvPr>
        </p:nvSpPr>
        <p:spPr/>
        <p:txBody>
          <a:bodyPr/>
          <a:lstStyle/>
          <a:p>
            <a:r>
              <a:rPr lang="en-US" dirty="0"/>
              <a:t>Stateful transformation Vs </a:t>
            </a:r>
            <a:r>
              <a:rPr lang="en-US" dirty="0" err="1"/>
              <a:t>Stateles</a:t>
            </a:r>
            <a:r>
              <a:rPr lang="en-US" dirty="0"/>
              <a:t> </a:t>
            </a:r>
            <a:r>
              <a:rPr lang="en-US" dirty="0" err="1"/>
              <a:t>tranformation</a:t>
            </a:r>
            <a:endParaRPr lang="en-IN" dirty="0"/>
          </a:p>
        </p:txBody>
      </p:sp>
      <p:sp>
        <p:nvSpPr>
          <p:cNvPr id="3" name="Content Placeholder 2">
            <a:extLst>
              <a:ext uri="{FF2B5EF4-FFF2-40B4-BE49-F238E27FC236}">
                <a16:creationId xmlns:a16="http://schemas.microsoft.com/office/drawing/2014/main" id="{7CBFC609-4BF1-7643-47F7-FE5350D467A4}"/>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2006188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F45C2-44D7-B9A3-7D0E-E81E5FC1F714}"/>
              </a:ext>
            </a:extLst>
          </p:cNvPr>
          <p:cNvSpPr>
            <a:spLocks noGrp="1"/>
          </p:cNvSpPr>
          <p:nvPr>
            <p:ph type="title"/>
          </p:nvPr>
        </p:nvSpPr>
        <p:spPr/>
        <p:txBody>
          <a:bodyPr/>
          <a:lstStyle/>
          <a:p>
            <a:r>
              <a:rPr lang="en-US" dirty="0"/>
              <a:t>Type of Stateful Transformation</a:t>
            </a:r>
            <a:endParaRPr lang="en-IN" dirty="0"/>
          </a:p>
        </p:txBody>
      </p:sp>
      <p:sp>
        <p:nvSpPr>
          <p:cNvPr id="3" name="Content Placeholder 2">
            <a:extLst>
              <a:ext uri="{FF2B5EF4-FFF2-40B4-BE49-F238E27FC236}">
                <a16:creationId xmlns:a16="http://schemas.microsoft.com/office/drawing/2014/main" id="{7707E9E9-7A5E-6D8C-F399-5FDD1C85F37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2234298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3BC0D-2470-54C9-22EE-99E6CF1223EC}"/>
              </a:ext>
            </a:extLst>
          </p:cNvPr>
          <p:cNvSpPr>
            <a:spLocks noGrp="1"/>
          </p:cNvSpPr>
          <p:nvPr>
            <p:ph type="title"/>
          </p:nvPr>
        </p:nvSpPr>
        <p:spPr/>
        <p:txBody>
          <a:bodyPr/>
          <a:lstStyle/>
          <a:p>
            <a:r>
              <a:rPr lang="en-US" dirty="0"/>
              <a:t>Types of Aggregation</a:t>
            </a:r>
            <a:endParaRPr lang="en-IN" dirty="0"/>
          </a:p>
        </p:txBody>
      </p:sp>
      <p:sp>
        <p:nvSpPr>
          <p:cNvPr id="3" name="Content Placeholder 2">
            <a:extLst>
              <a:ext uri="{FF2B5EF4-FFF2-40B4-BE49-F238E27FC236}">
                <a16:creationId xmlns:a16="http://schemas.microsoft.com/office/drawing/2014/main" id="{95F2A532-7D0A-8C01-6588-45363FD0DCC2}"/>
              </a:ext>
            </a:extLst>
          </p:cNvPr>
          <p:cNvSpPr>
            <a:spLocks noGrp="1"/>
          </p:cNvSpPr>
          <p:nvPr>
            <p:ph idx="1"/>
          </p:nvPr>
        </p:nvSpPr>
        <p:spPr/>
        <p:txBody>
          <a:bodyPr/>
          <a:lstStyle/>
          <a:p>
            <a:r>
              <a:rPr lang="en-US" dirty="0"/>
              <a:t>Timebound</a:t>
            </a:r>
          </a:p>
          <a:p>
            <a:endParaRPr lang="en-IN" dirty="0"/>
          </a:p>
        </p:txBody>
      </p:sp>
    </p:spTree>
    <p:extLst>
      <p:ext uri="{BB962C8B-B14F-4D97-AF65-F5344CB8AC3E}">
        <p14:creationId xmlns:p14="http://schemas.microsoft.com/office/powerpoint/2010/main" val="30073473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A8569F-0F3B-A08D-2916-38241F4A0370}"/>
              </a:ext>
            </a:extLst>
          </p:cNvPr>
          <p:cNvSpPr>
            <a:spLocks noGrp="1"/>
          </p:cNvSpPr>
          <p:nvPr>
            <p:ph type="title"/>
          </p:nvPr>
        </p:nvSpPr>
        <p:spPr/>
        <p:txBody>
          <a:bodyPr/>
          <a:lstStyle/>
          <a:p>
            <a:r>
              <a:rPr lang="en-US" dirty="0"/>
              <a:t>Window aggregate</a:t>
            </a:r>
            <a:endParaRPr lang="en-IN" dirty="0"/>
          </a:p>
        </p:txBody>
      </p:sp>
      <p:sp>
        <p:nvSpPr>
          <p:cNvPr id="3" name="Content Placeholder 2">
            <a:extLst>
              <a:ext uri="{FF2B5EF4-FFF2-40B4-BE49-F238E27FC236}">
                <a16:creationId xmlns:a16="http://schemas.microsoft.com/office/drawing/2014/main" id="{8C03E1DF-2BB1-D503-710E-0608FD19778D}"/>
              </a:ext>
            </a:extLst>
          </p:cNvPr>
          <p:cNvSpPr>
            <a:spLocks noGrp="1"/>
          </p:cNvSpPr>
          <p:nvPr>
            <p:ph idx="1"/>
          </p:nvPr>
        </p:nvSpPr>
        <p:spPr/>
        <p:txBody>
          <a:bodyPr/>
          <a:lstStyle/>
          <a:p>
            <a:r>
              <a:rPr lang="en-US" dirty="0"/>
              <a:t>Tumbling</a:t>
            </a:r>
          </a:p>
          <a:p>
            <a:r>
              <a:rPr lang="en-US" dirty="0"/>
              <a:t>Sliding window</a:t>
            </a:r>
            <a:endParaRPr lang="en-IN" dirty="0"/>
          </a:p>
        </p:txBody>
      </p:sp>
    </p:spTree>
    <p:extLst>
      <p:ext uri="{BB962C8B-B14F-4D97-AF65-F5344CB8AC3E}">
        <p14:creationId xmlns:p14="http://schemas.microsoft.com/office/powerpoint/2010/main" val="6031463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12720</TotalTime>
  <Words>2080</Words>
  <Application>Microsoft Office PowerPoint</Application>
  <PresentationFormat>Widescreen</PresentationFormat>
  <Paragraphs>99</Paragraphs>
  <Slides>38</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38</vt:i4>
      </vt:variant>
    </vt:vector>
  </HeadingPairs>
  <TitlesOfParts>
    <vt:vector size="48" baseType="lpstr">
      <vt:lpstr>-apple-system</vt:lpstr>
      <vt:lpstr>Arial</vt:lpstr>
      <vt:lpstr>Calibri</vt:lpstr>
      <vt:lpstr>Calibri Light</vt:lpstr>
      <vt:lpstr>DM Sans</vt:lpstr>
      <vt:lpstr>inherit</vt:lpstr>
      <vt:lpstr>Open Sans</vt:lpstr>
      <vt:lpstr>Segoe UI</vt:lpstr>
      <vt:lpstr>Söhne</vt:lpstr>
      <vt:lpstr>Office Theme</vt:lpstr>
      <vt:lpstr>What are the different cluster manager in spark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Spark Resource Allocation</vt:lpstr>
      <vt:lpstr>Cluster Configuration</vt:lpstr>
      <vt:lpstr>PowerPoint Presentation</vt:lpstr>
      <vt:lpstr>What is a lakehouse? </vt:lpstr>
      <vt:lpstr>A lakehouse has the following key features: </vt:lpstr>
      <vt:lpstr>PowerPoint Presentation</vt:lpstr>
      <vt:lpstr>Lakehouse Examples</vt:lpstr>
      <vt:lpstr>Open source file formats</vt:lpstr>
      <vt:lpstr>PowerPoint Presentation</vt:lpstr>
      <vt:lpstr>Hash Distribution</vt:lpstr>
      <vt:lpstr>Round-robin distributed tables </vt:lpstr>
      <vt:lpstr>PowerPoint Presentation</vt:lpstr>
      <vt:lpstr>Spark Streaming</vt:lpstr>
      <vt:lpstr>PowerPoint Presentation</vt:lpstr>
      <vt:lpstr>PowerPoint Presentation</vt:lpstr>
      <vt:lpstr>Spark Streaming (Dstream API) vs Structured Streaming API </vt:lpstr>
      <vt:lpstr>Types of triggers</vt:lpstr>
      <vt:lpstr>Spark default streaming source</vt:lpstr>
      <vt:lpstr>Output modes</vt:lpstr>
      <vt:lpstr>Fault Tolerance</vt:lpstr>
      <vt:lpstr>Stateful transformation Vs Stateles tranformation</vt:lpstr>
      <vt:lpstr>Type of Stateful Transformation</vt:lpstr>
      <vt:lpstr>Types of Aggregation</vt:lpstr>
      <vt:lpstr>Window aggregate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Deepak Goyal</dc:creator>
  <cp:lastModifiedBy>Deepak Goyal</cp:lastModifiedBy>
  <cp:revision>15</cp:revision>
  <dcterms:created xsi:type="dcterms:W3CDTF">2022-10-08T02:48:47Z</dcterms:created>
  <dcterms:modified xsi:type="dcterms:W3CDTF">2023-09-23T16:20:02Z</dcterms:modified>
</cp:coreProperties>
</file>